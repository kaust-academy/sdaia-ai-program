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74"/>
  </p:notesMasterIdLst>
  <p:sldIdLst>
    <p:sldId id="769" r:id="rId3"/>
    <p:sldId id="742" r:id="rId4"/>
    <p:sldId id="760" r:id="rId5"/>
    <p:sldId id="329" r:id="rId6"/>
    <p:sldId id="1211" r:id="rId7"/>
    <p:sldId id="1056" r:id="rId8"/>
    <p:sldId id="1213" r:id="rId9"/>
    <p:sldId id="765" r:id="rId10"/>
    <p:sldId id="766" r:id="rId11"/>
    <p:sldId id="1215" r:id="rId12"/>
    <p:sldId id="1216" r:id="rId13"/>
    <p:sldId id="1214" r:id="rId14"/>
    <p:sldId id="768" r:id="rId15"/>
    <p:sldId id="1218" r:id="rId16"/>
    <p:sldId id="1219" r:id="rId17"/>
    <p:sldId id="1220" r:id="rId18"/>
    <p:sldId id="804" r:id="rId19"/>
    <p:sldId id="1221" r:id="rId20"/>
    <p:sldId id="1222" r:id="rId21"/>
    <p:sldId id="284" r:id="rId22"/>
    <p:sldId id="286" r:id="rId23"/>
    <p:sldId id="289" r:id="rId24"/>
    <p:sldId id="290" r:id="rId25"/>
    <p:sldId id="1223" r:id="rId26"/>
    <p:sldId id="1224" r:id="rId27"/>
    <p:sldId id="1235" r:id="rId28"/>
    <p:sldId id="1225" r:id="rId29"/>
    <p:sldId id="1226" r:id="rId30"/>
    <p:sldId id="1227" r:id="rId31"/>
    <p:sldId id="1228" r:id="rId32"/>
    <p:sldId id="1229" r:id="rId33"/>
    <p:sldId id="1230" r:id="rId34"/>
    <p:sldId id="1231" r:id="rId35"/>
    <p:sldId id="1232" r:id="rId36"/>
    <p:sldId id="1233" r:id="rId37"/>
    <p:sldId id="751" r:id="rId38"/>
    <p:sldId id="773" r:id="rId39"/>
    <p:sldId id="1234" r:id="rId40"/>
    <p:sldId id="1148" r:id="rId41"/>
    <p:sldId id="1149" r:id="rId42"/>
    <p:sldId id="1150" r:id="rId43"/>
    <p:sldId id="1151" r:id="rId44"/>
    <p:sldId id="1152" r:id="rId45"/>
    <p:sldId id="1153" r:id="rId46"/>
    <p:sldId id="1164" r:id="rId47"/>
    <p:sldId id="1165" r:id="rId48"/>
    <p:sldId id="1166" r:id="rId49"/>
    <p:sldId id="1207" r:id="rId50"/>
    <p:sldId id="1176" r:id="rId51"/>
    <p:sldId id="1175" r:id="rId52"/>
    <p:sldId id="1177" r:id="rId53"/>
    <p:sldId id="1178" r:id="rId54"/>
    <p:sldId id="1183" r:id="rId55"/>
    <p:sldId id="1184" r:id="rId56"/>
    <p:sldId id="1185" r:id="rId57"/>
    <p:sldId id="1193" r:id="rId58"/>
    <p:sldId id="1194" r:id="rId59"/>
    <p:sldId id="1195" r:id="rId60"/>
    <p:sldId id="1196" r:id="rId61"/>
    <p:sldId id="1197" r:id="rId62"/>
    <p:sldId id="1198" r:id="rId63"/>
    <p:sldId id="1199" r:id="rId64"/>
    <p:sldId id="1200" r:id="rId65"/>
    <p:sldId id="1201" r:id="rId66"/>
    <p:sldId id="1202" r:id="rId67"/>
    <p:sldId id="1203" r:id="rId68"/>
    <p:sldId id="1204" r:id="rId69"/>
    <p:sldId id="1205" r:id="rId70"/>
    <p:sldId id="1012" r:id="rId71"/>
    <p:sldId id="1154" r:id="rId72"/>
    <p:sldId id="1210" r:id="rId7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80949"/>
  </p:normalViewPr>
  <p:slideViewPr>
    <p:cSldViewPr snapToGrid="0" snapToObjects="1">
      <p:cViewPr varScale="1">
        <p:scale>
          <a:sx n="76" d="100"/>
          <a:sy n="76" d="100"/>
        </p:scale>
        <p:origin x="136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7C474-3CF2-584F-8303-D187445E16EA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C03B7-3E69-EB40-B45D-F7ABEE5DF8E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378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\sigma(z) = \frac{1}{1+exp(-z)}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_{z \to 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infty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\sigma (z)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K" dirty="0"/>
          </a:p>
          <a:p>
            <a:endParaRPr lang="en-PK" dirty="0"/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C03B7-3E69-EB40-B45D-F7ABEE5DF8E8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47213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6E37-F209-FE32-6042-480EB1F4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06F1D-0E75-1EA6-D1C6-8A3315BB5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32196-0CC4-CCAD-8C8B-3E7A1AD1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\sigma(z) = \frac{1}{1+exp(-z)}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_{z \to 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infty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\sigma (z)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K" dirty="0"/>
          </a:p>
          <a:p>
            <a:endParaRPr lang="en-PK" dirty="0"/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3DD8-B727-30C6-7930-1AF9E206E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C03B7-3E69-EB40-B45D-F7ABEE5DF8E8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3188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{w}^{k+1} = 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{w}^{k}- \eta\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nabla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{w}}J(\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{w}^k) 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C03B7-3E69-EB40-B45D-F7ABEE5DF8E8}" type="slidenum">
              <a:rPr lang="en-PK" smtClean="0"/>
              <a:t>21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5890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Shape 111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Shape 1111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111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Shape 1118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hape 113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Shape 1132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Shape 114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Shape 1141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Shape 114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Shape 1148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Shape 115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Shape 1156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CCE01B-9CC7-41BF-A9F0-49896738A9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Shape 365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Shape 399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Shape 411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Shape 418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Shape 427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Shape 444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Shape 458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Shape 473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49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Shape 497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Shape 116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Shape 1168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65B4-CB50-7384-8894-45F4040E4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664A1-10E6-73DB-5A25-DEDBC546D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2DB4-E112-B6F4-8112-BF41B3CD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8468B-3BF3-B2DB-EFD2-FFE2CE63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B025-C7C0-D998-8932-B0B3C89E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94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8A08-38C7-49CF-EA21-C10E70C1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A87F-E66C-6EE0-BBF6-C9044A825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8340B-E3AA-FA7E-E10B-F56DE8DB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F12E1-D0B3-7634-50E2-55987519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62D04-3185-F9DA-53DE-34C45DDC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25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EE46-2675-AB0F-02E7-C0D104E7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DE924-F2D7-D0AD-F94F-1AE7E328C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CEF76-28C0-1302-0C1B-097BE2C8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EE5B1-9C2C-AEC7-5FC0-5BB2B992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D23D-5458-69E9-585E-B716470D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576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19E5-36AE-B080-0220-320608CB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E3E9-CAC6-3411-23C6-DB1A37C9E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DCF-E01C-54F7-F2C8-B76D0ED4B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3C53E-C4B9-DDF7-2209-BF473C80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4E42-57B4-B35A-C631-A05B6590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45F3B-ADCC-6C00-FD7B-A6715386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345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9573-CF04-A40E-6DB3-04D51007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C3B6-9E72-6044-3330-319391E7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47812-F860-CA29-BC0A-BB8CD0847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8D7CE-1028-F140-53FD-5416F34DF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38046-5CFF-9739-3162-9A2AB473A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6832D-3BC2-EBC2-148F-84D5E74E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B909F-33B8-D466-95AF-BCE9E274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2FE16-0DAE-537A-CC83-74E894A4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458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67C2-EF00-2380-E614-8F9427B9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0D0C2-2B84-87A9-D37D-115DA014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D9815-CBC3-86B9-2CB0-8DF2B8D9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0C521-5BDB-549F-AD8C-A0F0C81D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966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51D92-8737-1A6A-64A1-AA11F5AE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F7BCC-4DAB-BDD1-CA24-0DDD1911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7CF48-A309-649A-CA3E-49FB749C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820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AE72-D2F2-4F47-7635-24AFEBBB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A922-F6F1-0DEF-9D4B-5CABF103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B3410-1CD4-50DD-2415-0ACF95F2D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CEA65-3FA5-840F-D872-E344249B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72754-ED02-8CB9-F391-6D1EDD37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84DDF-6952-A0DA-235A-940FAD0F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364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D3C6-8193-5116-CA71-C06063DAA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7AED4-8AE9-B93E-9524-6B531521F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94F4C-6E78-36D7-F415-4D0D3A607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E41DD-9668-37F7-B8E8-AFDE5F39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10F89-D720-EA50-75C7-9D629CC4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B90CE-9AFB-6E90-C662-5F6E751B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897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0C10-34AB-2F0A-D162-0C69D90D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DD373-D841-0014-6211-9F3AA72EC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8CB49-D231-0FAE-8B8E-7E5EF33E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FECC-19BA-EE3A-DCE7-E6009DBB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FD1DB-E520-EDF9-FBDB-9FEB7395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611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C59D86-26CB-0C4B-0425-0C72FE4AE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97B79-87FC-D3D2-B31B-BFE9DE119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25A4A-89B7-845C-238B-28EB00F7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80198-9EE6-B41D-E45E-7E404150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8969-92BC-EEEC-9780-2430F785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024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6165500"/>
            <a:ext cx="12192000" cy="7056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4" name="Shape 14"/>
          <p:cNvSpPr txBox="1"/>
          <p:nvPr/>
        </p:nvSpPr>
        <p:spPr>
          <a:xfrm>
            <a:off x="96267" y="6165500"/>
            <a:ext cx="11943333" cy="72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FFFFFF"/>
                </a:solidFill>
              </a:rPr>
              <a:t>Slides based on cs231n by Fei-Fei Li &amp; Andrej Karpathy &amp; Justin Johnson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10251069" y="6157300"/>
            <a:ext cx="4668399" cy="72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89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454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72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392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1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092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90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73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274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73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1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0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0" y="6165500"/>
            <a:ext cx="12192000" cy="7056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4" name="Shape 14"/>
          <p:cNvSpPr txBox="1"/>
          <p:nvPr/>
        </p:nvSpPr>
        <p:spPr>
          <a:xfrm>
            <a:off x="96267" y="6165500"/>
            <a:ext cx="11943333" cy="72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FFFFFF"/>
                </a:solidFill>
              </a:rPr>
              <a:t>Slides based on cs231n by Fei-Fei Li &amp; Andrej Karpathy &amp; Justin Johnson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10251069" y="6157300"/>
            <a:ext cx="4668399" cy="72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en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3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3DE7D-18D4-E1AD-E18F-0A0E5AC9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2D323-C0F1-6F9A-6237-FB7F15307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68936-FAEB-8630-E7F8-38590494F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45A33-2309-E243-9A89-DBC31EBBD835}" type="datetimeFigureOut">
              <a:rPr lang="en-PK" smtClean="0"/>
              <a:t>01/02/2025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FFEB6-1398-0A0C-D164-15FC26748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41999-250F-B034-F070-0B56AD891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532DA-3D94-CB47-815A-AECD4B9088AC}" type="slidenum">
              <a:rPr lang="en-PK" smtClean="0"/>
              <a:t>‹#›</a:t>
            </a:fld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3FFBC-E1C5-9E73-AD72-769F7E18C39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9982200" y="157030"/>
            <a:ext cx="2073353" cy="70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2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215A688-2A02-4252-8F80-2AEEB693329C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3763691-4FD2-4972-8193-2A207F5FB4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965515-9053-1C85-30B8-951D9569CD1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9982200" y="157030"/>
            <a:ext cx="2073353" cy="70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1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E6C752-5425-D045-8D37-B4D8EEE28136}"/>
              </a:ext>
            </a:extLst>
          </p:cNvPr>
          <p:cNvSpPr txBox="1"/>
          <p:nvPr/>
        </p:nvSpPr>
        <p:spPr>
          <a:xfrm>
            <a:off x="186369" y="2235812"/>
            <a:ext cx="118192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Artificial Intelligence and Machine Learning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4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Classification</a:t>
            </a:r>
            <a:endParaRPr kumimoji="0" lang="id-ID" sz="4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570E5AB-7826-A448-9ABD-A18D6B480E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35" y="436705"/>
            <a:ext cx="1352550" cy="7239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0D5064-9578-E844-AF27-59DA07AD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C1E7D-BFF4-2348-8174-00899AEE9B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02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F9FD-A705-C447-BD53-6DB9ABA3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2: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B80F-1805-4B41-8E67-05737AB85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(Review)</a:t>
            </a:r>
          </a:p>
          <a:p>
            <a:r>
              <a:rPr lang="en-US" dirty="0"/>
              <a:t>Intro to Classification</a:t>
            </a:r>
          </a:p>
          <a:p>
            <a:r>
              <a:rPr lang="en-US" dirty="0"/>
              <a:t>Logistic Regression (Linear Classifier)</a:t>
            </a:r>
          </a:p>
          <a:p>
            <a:r>
              <a:rPr lang="en-US" dirty="0"/>
              <a:t>Classification Metrics</a:t>
            </a:r>
          </a:p>
          <a:p>
            <a:r>
              <a:rPr lang="en-US" dirty="0"/>
              <a:t>Other ML Models</a:t>
            </a:r>
          </a:p>
          <a:p>
            <a:r>
              <a:rPr lang="en-US" dirty="0"/>
              <a:t>Optimizers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89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19" y="417085"/>
            <a:ext cx="3681070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173" dirty="0"/>
              <a:t>Recap</a:t>
            </a:r>
          </a:p>
        </p:txBody>
      </p:sp>
      <p:sp>
        <p:nvSpPr>
          <p:cNvPr id="3" name="object 3"/>
          <p:cNvSpPr/>
          <p:nvPr/>
        </p:nvSpPr>
        <p:spPr>
          <a:xfrm>
            <a:off x="6949440" y="2830068"/>
            <a:ext cx="3229356" cy="2191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619" y="1529614"/>
            <a:ext cx="7989253" cy="338554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indent="0" algn="l" defTabSz="914400" rtl="0" eaLnBrk="1" fontAlgn="auto" latinLnBrk="0" hangingPunct="1">
              <a:lnSpc>
                <a:spcPts val="2155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Design your</a:t>
            </a:r>
            <a:r>
              <a:rPr kumimoji="0" sz="1800" b="0" i="0" u="none" strike="noStrike" kern="1200" cap="none" spc="-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model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Input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scalar linear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model </a:t>
            </a:r>
            <a:r>
              <a:rPr kumimoji="0" sz="1800" b="0" i="0" u="none" strike="noStrike" kern="1200" cap="none" spc="-9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(line</a:t>
            </a:r>
            <a:r>
              <a:rPr kumimoji="0" sz="1800" b="0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fitting)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Fitting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polynomials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(synthetically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designing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features</a:t>
            </a:r>
            <a:r>
              <a:rPr kumimoji="0" sz="1800" b="0" i="0" u="none" strike="noStrike" kern="1200" cap="none" spc="-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from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one-dimensional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input)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18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6350" marR="0" lvl="0" indent="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Design your </a:t>
            </a:r>
            <a:r>
              <a:rPr kumimoji="0" sz="1800" b="0" i="0" u="none" strike="noStrike" kern="1200" cap="none" spc="-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loss</a:t>
            </a:r>
            <a:r>
              <a:rPr kumimoji="0" sz="1800" b="0" i="0" u="none" strike="noStrike" kern="1200" cap="none" spc="-3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used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mean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squared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error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loss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throughout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6350" marR="0" lvl="0" indent="0" algn="l" defTabSz="914400" rtl="0" eaLnBrk="1" fontAlgn="auto" latinLnBrk="0" hangingPunct="1">
              <a:lnSpc>
                <a:spcPts val="2155"/>
              </a:lnSpc>
              <a:spcBef>
                <a:spcPts val="17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Finding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optimal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parameter</a:t>
            </a:r>
            <a:r>
              <a:rPr kumimoji="0" sz="1800" b="0" i="0" u="none" strike="noStrike" kern="1200" cap="none" spc="-2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fitting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Closed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form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solution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linear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least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squares?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Why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1800" b="0" i="0" u="none" strike="noStrike" kern="1200" cap="none" spc="-10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it </a:t>
            </a:r>
            <a:r>
              <a:rPr kumimoji="0" sz="1800" b="0" i="0" u="none" strike="noStrike" kern="1200" cap="none" spc="-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linear least</a:t>
            </a:r>
            <a:r>
              <a:rPr kumimoji="0" sz="1800" b="0" i="0" u="none" strike="noStrike" kern="1200" cap="none" spc="-4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squares?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Solution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closed</a:t>
            </a:r>
            <a:r>
              <a:rPr kumimoji="0" sz="1800" b="0" i="0" u="none" strike="noStrike" kern="1200" cap="none" spc="-2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0" y="1355116"/>
            <a:ext cx="3681070" cy="348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68DC6FFC-99B2-C04D-81E1-7F7F3EB21F3A}"/>
              </a:ext>
            </a:extLst>
          </p:cNvPr>
          <p:cNvSpPr txBox="1">
            <a:spLocks/>
          </p:cNvSpPr>
          <p:nvPr/>
        </p:nvSpPr>
        <p:spPr>
          <a:xfrm>
            <a:off x="301725" y="429232"/>
            <a:ext cx="6935788" cy="6683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Regression VS classification</a:t>
            </a:r>
          </a:p>
        </p:txBody>
      </p:sp>
      <p:pic>
        <p:nvPicPr>
          <p:cNvPr id="1026" name="Picture 2" descr="Regression vs. Classification">
            <a:extLst>
              <a:ext uri="{FF2B5EF4-FFF2-40B4-BE49-F238E27FC236}">
                <a16:creationId xmlns:a16="http://schemas.microsoft.com/office/drawing/2014/main" id="{36BD5403-3A08-914B-C80D-AC1C1BA02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25" y="1527802"/>
            <a:ext cx="6935788" cy="518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A268BA3-A62D-5572-F610-46B1FDF928FF}"/>
              </a:ext>
            </a:extLst>
          </p:cNvPr>
          <p:cNvSpPr txBox="1">
            <a:spLocks/>
          </p:cNvSpPr>
          <p:nvPr/>
        </p:nvSpPr>
        <p:spPr>
          <a:xfrm>
            <a:off x="7748851" y="2506662"/>
            <a:ext cx="3866002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=&gt; Continuous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=&gt; Discrete Values</a:t>
            </a:r>
          </a:p>
        </p:txBody>
      </p:sp>
    </p:spTree>
    <p:extLst>
      <p:ext uri="{BB962C8B-B14F-4D97-AF65-F5344CB8AC3E}">
        <p14:creationId xmlns:p14="http://schemas.microsoft.com/office/powerpoint/2010/main" val="312697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94AE-9E88-AD1D-C553-3F1729E5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1">
            <a:extLst>
              <a:ext uri="{FF2B5EF4-FFF2-40B4-BE49-F238E27FC236}">
                <a16:creationId xmlns:a16="http://schemas.microsoft.com/office/drawing/2014/main" id="{36C76F0F-2C44-236F-E32E-BE45056EDBF1}"/>
              </a:ext>
            </a:extLst>
          </p:cNvPr>
          <p:cNvSpPr txBox="1">
            <a:spLocks/>
          </p:cNvSpPr>
          <p:nvPr/>
        </p:nvSpPr>
        <p:spPr>
          <a:xfrm>
            <a:off x="50528" y="308046"/>
            <a:ext cx="6935788" cy="6683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Regression VS classification</a:t>
            </a:r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F0FEBE79-6B47-D93F-10AC-3A10C5295CAE}"/>
              </a:ext>
            </a:extLst>
          </p:cNvPr>
          <p:cNvSpPr txBox="1">
            <a:spLocks/>
          </p:cNvSpPr>
          <p:nvPr/>
        </p:nvSpPr>
        <p:spPr>
          <a:xfrm>
            <a:off x="357510" y="4803667"/>
            <a:ext cx="6935788" cy="47666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sv-SE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Classification: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4B1BA518-14BA-C094-05C0-54E7664EBA6E}"/>
              </a:ext>
            </a:extLst>
          </p:cNvPr>
          <p:cNvSpPr txBox="1">
            <a:spLocks/>
          </p:cNvSpPr>
          <p:nvPr/>
        </p:nvSpPr>
        <p:spPr>
          <a:xfrm>
            <a:off x="477052" y="2037466"/>
            <a:ext cx="6935788" cy="6630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355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3900" indent="-3683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325" indent="-352425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5113" indent="-4572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sv-SE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Regression: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12AF53B6-A1EA-2EB2-7973-90AED2C55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95" y="3936469"/>
            <a:ext cx="7972548" cy="234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latshållare för innehåll 2">
            <a:extLst>
              <a:ext uri="{FF2B5EF4-FFF2-40B4-BE49-F238E27FC236}">
                <a16:creationId xmlns:a16="http://schemas.microsoft.com/office/drawing/2014/main" id="{3FE9D50C-15BA-9E76-EA88-89953DF044E9}"/>
              </a:ext>
            </a:extLst>
          </p:cNvPr>
          <p:cNvSpPr txBox="1">
            <a:spLocks/>
          </p:cNvSpPr>
          <p:nvPr/>
        </p:nvSpPr>
        <p:spPr>
          <a:xfrm>
            <a:off x="2221356" y="3005688"/>
            <a:ext cx="7943507" cy="4766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</a:t>
            </a:r>
            <a:r>
              <a:rPr kumimoji="0" lang="sv-SE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</a:t>
            </a:r>
            <a:r>
              <a:rPr kumimoji="0" lang="sv-SE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Polynomial</a:t>
            </a:r>
            <a:r>
              <a:rPr kumimoji="0" lang="sv-S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</a:t>
            </a:r>
            <a:r>
              <a:rPr kumimoji="0" lang="sv-SE" sz="1800" b="0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complex (overfitting)</a:t>
            </a:r>
            <a:endParaRPr kumimoji="0" lang="sv-SE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9A2C45-4B51-C0CB-8F64-4A507A68A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56" y="1446042"/>
            <a:ext cx="7749287" cy="1585081"/>
          </a:xfrm>
          <a:prstGeom prst="rect">
            <a:avLst/>
          </a:prstGeom>
        </p:spPr>
      </p:pic>
      <p:sp>
        <p:nvSpPr>
          <p:cNvPr id="11" name="Platshållare för innehåll 2">
            <a:extLst>
              <a:ext uri="{FF2B5EF4-FFF2-40B4-BE49-F238E27FC236}">
                <a16:creationId xmlns:a16="http://schemas.microsoft.com/office/drawing/2014/main" id="{CB7A2F51-4379-3846-4761-F2B554F8968C}"/>
              </a:ext>
            </a:extLst>
          </p:cNvPr>
          <p:cNvSpPr txBox="1">
            <a:spLocks/>
          </p:cNvSpPr>
          <p:nvPr/>
        </p:nvSpPr>
        <p:spPr>
          <a:xfrm>
            <a:off x="2221356" y="6302697"/>
            <a:ext cx="7943507" cy="4766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</a:t>
            </a:r>
            <a:r>
              <a:rPr kumimoji="0" lang="sv-SE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</a:t>
            </a:r>
            <a:r>
              <a:rPr kumimoji="0" lang="sv-SE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Polynomial</a:t>
            </a:r>
            <a:r>
              <a:rPr kumimoji="0" lang="sv-S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</a:t>
            </a:r>
            <a:r>
              <a:rPr kumimoji="0" lang="sv-SE" sz="1800" b="0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complex (overfitting)</a:t>
            </a:r>
            <a:endParaRPr kumimoji="0" lang="sv-SE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8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  <p:bldP spid="7" grpId="0"/>
      <p:bldP spid="2" grpId="0" build="p"/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/>
          <p:nvPr/>
        </p:nvSpPr>
        <p:spPr>
          <a:xfrm>
            <a:off x="1792400" y="-93061"/>
            <a:ext cx="8229600" cy="9256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r>
              <a:rPr lang="en" sz="3600" b="1" dirty="0">
                <a:solidFill>
                  <a:srgbClr val="FFFFFF"/>
                </a:solidFill>
                <a:latin typeface="Arial"/>
              </a:rPr>
              <a:t>Interpreting a Linear Classifier</a:t>
            </a:r>
          </a:p>
        </p:txBody>
      </p:sp>
      <p:pic>
        <p:nvPicPr>
          <p:cNvPr id="540" name="Shape 5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402" y="1190202"/>
            <a:ext cx="4846225" cy="474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Shape 5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512" y="1050133"/>
            <a:ext cx="3742324" cy="97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Shape 5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2621" y="2259779"/>
            <a:ext cx="1270475" cy="1305167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Shape 543"/>
          <p:cNvSpPr txBox="1"/>
          <p:nvPr/>
        </p:nvSpPr>
        <p:spPr>
          <a:xfrm>
            <a:off x="7452777" y="3835468"/>
            <a:ext cx="3328799" cy="41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b="1">
                <a:solidFill>
                  <a:srgbClr val="000000"/>
                </a:solidFill>
                <a:latin typeface="Arial"/>
              </a:rPr>
              <a:t>[32x32x3]</a:t>
            </a:r>
          </a:p>
          <a:p>
            <a:r>
              <a:rPr lang="en" sz="2400">
                <a:solidFill>
                  <a:srgbClr val="000000"/>
                </a:solidFill>
                <a:latin typeface="Arial"/>
              </a:rPr>
              <a:t>array of numbers 0...1</a:t>
            </a:r>
          </a:p>
          <a:p>
            <a:r>
              <a:rPr lang="en" sz="2400">
                <a:solidFill>
                  <a:srgbClr val="000000"/>
                </a:solidFill>
                <a:latin typeface="Arial"/>
              </a:rPr>
              <a:t>(3072 numbers total)</a:t>
            </a:r>
          </a:p>
        </p:txBody>
      </p:sp>
    </p:spTree>
    <p:extLst>
      <p:ext uri="{BB962C8B-B14F-4D97-AF65-F5344CB8AC3E}">
        <p14:creationId xmlns:p14="http://schemas.microsoft.com/office/powerpoint/2010/main" val="76099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F9A0-6633-D705-13FC-C3F030D0B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C01A76-EF3A-B5CA-40EF-C82150F90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Classification Types</a:t>
            </a:r>
            <a:endParaRPr spc="-16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B77B03-2874-4499-1549-62B36186FB96}"/>
              </a:ext>
            </a:extLst>
          </p:cNvPr>
          <p:cNvSpPr txBox="1"/>
          <p:nvPr/>
        </p:nvSpPr>
        <p:spPr>
          <a:xfrm>
            <a:off x="961573" y="1208045"/>
            <a:ext cx="7544377" cy="401776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Binary Classification</a:t>
            </a:r>
            <a:r>
              <a:rPr lang="en-US" sz="2400" dirty="0"/>
              <a:t>: Two possible outcomes (e.g., Yes/No, Spam/Not Spam).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How? </a:t>
            </a:r>
            <a:r>
              <a:rPr lang="en-US" sz="2400" dirty="0"/>
              <a:t>Single Classifier.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200" spc="-93" dirty="0">
              <a:solidFill>
                <a:srgbClr val="535353"/>
              </a:solidFill>
              <a:latin typeface="Trebuchet MS"/>
              <a:cs typeface="Trebuchet MS"/>
            </a:endParaRP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200" spc="-93" dirty="0">
              <a:solidFill>
                <a:srgbClr val="535353"/>
              </a:solidFill>
              <a:latin typeface="Trebuchet MS"/>
              <a:cs typeface="Trebuchet MS"/>
            </a:endParaRP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200" spc="-93" dirty="0">
              <a:solidFill>
                <a:srgbClr val="535353"/>
              </a:solidFill>
              <a:latin typeface="Trebuchet MS"/>
              <a:cs typeface="Trebuchet MS"/>
            </a:endParaRP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200" spc="-93" dirty="0">
              <a:solidFill>
                <a:srgbClr val="535353"/>
              </a:solidFill>
              <a:latin typeface="Trebuchet MS"/>
              <a:cs typeface="Trebuchet MS"/>
            </a:endParaRP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200" spc="-93" dirty="0">
              <a:solidFill>
                <a:srgbClr val="535353"/>
              </a:solidFill>
              <a:latin typeface="Trebuchet MS"/>
              <a:cs typeface="Trebuchet MS"/>
            </a:endParaRP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Multiclass Classification</a:t>
            </a:r>
            <a:r>
              <a:rPr lang="en-US" sz="2400" dirty="0"/>
              <a:t>: More than two outcomes (e.g., Class A, B, C).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How? </a:t>
            </a:r>
            <a:r>
              <a:rPr lang="en-US" sz="2400" dirty="0"/>
              <a:t>Multiple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*</a:t>
            </a:r>
            <a:r>
              <a:rPr lang="en-US" sz="2400" dirty="0"/>
              <a:t>Single Classifiers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*.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FFFAF5-6E46-F9A7-4778-C3C1765B0B8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4ACD5-9836-A913-E0B6-63058C359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107" y="1075996"/>
            <a:ext cx="2648320" cy="2353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F8739E-125A-F860-0B36-34EE85539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65" y="4212010"/>
            <a:ext cx="259116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447" y="369206"/>
            <a:ext cx="5597957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180" dirty="0"/>
              <a:t>Linear </a:t>
            </a:r>
            <a:r>
              <a:rPr spc="-8" dirty="0"/>
              <a:t>Model </a:t>
            </a:r>
            <a:r>
              <a:rPr spc="-140" dirty="0"/>
              <a:t>in</a:t>
            </a:r>
            <a:r>
              <a:rPr spc="-653" dirty="0"/>
              <a:t> </a:t>
            </a:r>
            <a:r>
              <a:rPr spc="-110" dirty="0"/>
              <a:t>Disguise</a:t>
            </a:r>
          </a:p>
        </p:txBody>
      </p:sp>
      <p:sp>
        <p:nvSpPr>
          <p:cNvPr id="3" name="object 3"/>
          <p:cNvSpPr/>
          <p:nvPr/>
        </p:nvSpPr>
        <p:spPr>
          <a:xfrm>
            <a:off x="6669024" y="1513332"/>
            <a:ext cx="3479292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1177" y="5290970"/>
            <a:ext cx="4074801" cy="340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9715EF-2D12-A9D9-783C-5558F03EC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725" y="1585154"/>
            <a:ext cx="1790700" cy="5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7D17AC-4D89-8EDE-E61B-BFBBF808F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977" y="2390798"/>
            <a:ext cx="4521200" cy="520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C363E-1CDA-E197-C060-0A491959D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027" y="3306150"/>
            <a:ext cx="39751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8091" y="399503"/>
            <a:ext cx="5202849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180" dirty="0"/>
              <a:t>Linear </a:t>
            </a:r>
            <a:r>
              <a:rPr spc="-8" dirty="0"/>
              <a:t>Model </a:t>
            </a:r>
            <a:r>
              <a:rPr spc="-140" dirty="0"/>
              <a:t>in</a:t>
            </a:r>
            <a:r>
              <a:rPr spc="-653" dirty="0"/>
              <a:t> </a:t>
            </a:r>
            <a:r>
              <a:rPr spc="-110" dirty="0"/>
              <a:t>Disguise</a:t>
            </a:r>
          </a:p>
        </p:txBody>
      </p:sp>
      <p:sp>
        <p:nvSpPr>
          <p:cNvPr id="3" name="object 3"/>
          <p:cNvSpPr/>
          <p:nvPr/>
        </p:nvSpPr>
        <p:spPr>
          <a:xfrm>
            <a:off x="6669024" y="1513332"/>
            <a:ext cx="3479292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1177" y="5290970"/>
            <a:ext cx="4074801" cy="340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7818" y="4189228"/>
            <a:ext cx="3635058" cy="0"/>
          </a:xfrm>
          <a:custGeom>
            <a:avLst/>
            <a:gdLst/>
            <a:ahLst/>
            <a:cxnLst/>
            <a:rect l="l" t="t" r="r" b="b"/>
            <a:pathLst>
              <a:path w="7270115">
                <a:moveTo>
                  <a:pt x="0" y="0"/>
                </a:moveTo>
                <a:lnTo>
                  <a:pt x="7270044" y="1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50863" y="4561370"/>
            <a:ext cx="858653" cy="337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5627" y="5118862"/>
            <a:ext cx="3602038" cy="87972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445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2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Recall </a:t>
            </a:r>
            <a:r>
              <a:rPr kumimoji="0" sz="1800" b="0" i="0" u="none" strike="noStrike" kern="1200" cap="none" spc="-88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1800" b="0" i="0" u="none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output/label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 </a:t>
            </a:r>
            <a:r>
              <a:rPr kumimoji="0" sz="1800" b="0" i="0" u="none" strike="noStrike" kern="1200" cap="none" spc="-6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sz="1800" b="0" i="0" u="none" strike="noStrike" kern="1200" cap="none" spc="-418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binary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63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How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map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predictions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binary?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D85CEF-8186-EA31-85E0-19226C2D5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725" y="1585154"/>
            <a:ext cx="1790700" cy="50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A1CEE7-DD8D-BF7D-05C5-E82B2861A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977" y="2390798"/>
            <a:ext cx="4521200" cy="52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81005B-DB73-F043-449F-B4F781A33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027" y="3306150"/>
            <a:ext cx="39751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4A88-2B05-5821-D981-99C3DBA9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7BFABA-3628-6A4E-34DE-719AF08347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Linear Classifier</a:t>
            </a:r>
            <a:endParaRPr spc="-16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12D591-95B9-34E3-FD8E-0EA72A1E1909}"/>
              </a:ext>
            </a:extLst>
          </p:cNvPr>
          <p:cNvSpPr txBox="1"/>
          <p:nvPr/>
        </p:nvSpPr>
        <p:spPr>
          <a:xfrm>
            <a:off x="961573" y="1208045"/>
            <a:ext cx="7544377" cy="376385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The linear classifier we will study is basically a </a:t>
            </a:r>
            <a:r>
              <a:rPr lang="en-US" sz="2400" b="1" dirty="0"/>
              <a:t>regression</a:t>
            </a:r>
            <a:r>
              <a:rPr lang="en-US" sz="2400" dirty="0"/>
              <a:t> model with two key modifications:</a:t>
            </a:r>
          </a:p>
          <a:p>
            <a:pPr marL="806450" lvl="1" indent="-342900"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Pass the regression outputs through a </a:t>
            </a:r>
            <a:r>
              <a:rPr lang="en-US" sz="2400" b="1" dirty="0"/>
              <a:t>special function</a:t>
            </a:r>
            <a:r>
              <a:rPr lang="en-US" sz="2400" dirty="0"/>
              <a:t> to convert them into probabilities.</a:t>
            </a:r>
          </a:p>
          <a:p>
            <a:pPr marL="806450" lvl="1" indent="-342900"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Replace the Mean Squared Error loss with a </a:t>
            </a:r>
            <a:r>
              <a:rPr lang="en-US" sz="2400" b="1" dirty="0"/>
              <a:t>new loss function</a:t>
            </a:r>
            <a:r>
              <a:rPr lang="en-US" sz="2400" dirty="0"/>
              <a:t> designed for probabilities.</a:t>
            </a:r>
          </a:p>
          <a:p>
            <a:pPr marL="806450" lvl="1" indent="-342900"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806450" lvl="1" indent="-342900"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endParaRPr lang="en-US" sz="2400" dirty="0">
              <a:solidFill>
                <a:prstClr val="black"/>
              </a:solidFill>
              <a:latin typeface="Trebuchet MS"/>
              <a:cs typeface="Trebuchet MS"/>
            </a:endParaRP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Applying these two to the Linear Regression should give Linear Classifier (called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Logistic Regression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).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171CE82-20FE-5A25-494B-F44FAEE6219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304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9A82-F867-4F31-D89A-0FF01793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2CBFCB-2B3F-A02F-B7F2-4D004F357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Logistic Regression</a:t>
            </a:r>
            <a:endParaRPr spc="-16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47CB2DF-D9F9-72B4-2486-C1E54F36566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47C50F-3B3E-B1CD-D19A-E5826860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28" y="1275838"/>
            <a:ext cx="11023867" cy="48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4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63B8B-169A-6831-6624-40997878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B91522-B5BE-1D32-63DF-BC1CCF78C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Special Function</a:t>
            </a:r>
            <a:endParaRPr spc="-16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849E1F3-61FA-6F37-93F3-F65717168E6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D97A748-9D59-3BFA-496E-536C9B10844D}"/>
              </a:ext>
            </a:extLst>
          </p:cNvPr>
          <p:cNvSpPr txBox="1"/>
          <p:nvPr/>
        </p:nvSpPr>
        <p:spPr>
          <a:xfrm>
            <a:off x="831206" y="1272310"/>
            <a:ext cx="8720418" cy="264303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We are searching for a function that has the following characteristics: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Could convert any arbitrary input values to </a:t>
            </a:r>
            <a:r>
              <a:rPr lang="en-US" sz="2400" b="1" dirty="0"/>
              <a:t>[0,1] range (Probabilities)</a:t>
            </a:r>
            <a:r>
              <a:rPr lang="en-US" sz="2400" dirty="0"/>
              <a:t>. 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Smooth and Differentiable</a:t>
            </a:r>
            <a:r>
              <a:rPr lang="en-US" sz="2400" dirty="0"/>
              <a:t>. Because we want to find the minima later, right?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Any ideas?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84096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507" y="278851"/>
            <a:ext cx="8838223" cy="621965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z="4000" spc="-125" dirty="0"/>
              <a:t>Sigmoid</a:t>
            </a:r>
            <a:r>
              <a:rPr sz="4000" spc="-303" dirty="0"/>
              <a:t> </a:t>
            </a:r>
            <a:r>
              <a:rPr sz="4000" spc="-148" dirty="0"/>
              <a:t>Function</a:t>
            </a:r>
            <a:r>
              <a:rPr lang="en-US" sz="4000" spc="-148" dirty="0"/>
              <a:t> (for Binary Classification)</a:t>
            </a:r>
            <a:endParaRPr sz="4000" spc="-148" dirty="0"/>
          </a:p>
        </p:txBody>
      </p:sp>
      <p:sp>
        <p:nvSpPr>
          <p:cNvPr id="3" name="object 3"/>
          <p:cNvSpPr/>
          <p:nvPr/>
        </p:nvSpPr>
        <p:spPr>
          <a:xfrm>
            <a:off x="6338316" y="1283208"/>
            <a:ext cx="3983736" cy="3070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105F67-90C2-AEA4-A7C5-9582FC434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19" y="1764538"/>
            <a:ext cx="3949700" cy="1054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24BBDB-B492-DEF4-5172-70BAF863F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984" y="4426316"/>
            <a:ext cx="2946400" cy="63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6F0250-4375-482E-5D00-72D5B2C1F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440" y="5425752"/>
            <a:ext cx="2641600" cy="63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9ED7A5C-06B6-9DAD-7FFC-92D2184D40BB}"/>
                  </a:ext>
                </a:extLst>
              </p:cNvPr>
              <p:cNvSpPr txBox="1"/>
              <p:nvPr/>
            </p:nvSpPr>
            <p:spPr>
              <a:xfrm>
                <a:off x="-280959" y="3152728"/>
                <a:ext cx="6765283" cy="529632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D9ED7A5C-06B6-9DAD-7FFC-92D2184D4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0959" y="3152728"/>
                <a:ext cx="6765283" cy="5296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4">
            <a:extLst>
              <a:ext uri="{FF2B5EF4-FFF2-40B4-BE49-F238E27FC236}">
                <a16:creationId xmlns:a16="http://schemas.microsoft.com/office/drawing/2014/main" id="{2CD4AB7E-77D5-0D5B-DA0D-8BFDC64DBECD}"/>
              </a:ext>
            </a:extLst>
          </p:cNvPr>
          <p:cNvSpPr txBox="1"/>
          <p:nvPr/>
        </p:nvSpPr>
        <p:spPr>
          <a:xfrm>
            <a:off x="680351" y="5546039"/>
            <a:ext cx="3742629" cy="6835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kumimoji="0" lang="en-US" sz="2200" b="0" i="0" u="none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But what if we have multiclass problem?🤔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20D1942-BB0E-866B-7D0A-77618A07B712}"/>
              </a:ext>
            </a:extLst>
          </p:cNvPr>
          <p:cNvSpPr txBox="1"/>
          <p:nvPr/>
        </p:nvSpPr>
        <p:spPr>
          <a:xfrm>
            <a:off x="680351" y="4177120"/>
            <a:ext cx="5657965" cy="10220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kumimoji="0" lang="en-US" sz="2200" b="0" i="0" u="none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Assuming you have negative and positive classes, its output would be the </a:t>
            </a:r>
            <a:r>
              <a:rPr kumimoji="0" lang="en-US" sz="2200" b="0" i="0" u="sng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probability of the positive class</a:t>
            </a:r>
            <a:r>
              <a:rPr kumimoji="0" lang="en-US" sz="2200" b="0" i="0" u="none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49A5-046A-F21E-32CA-81E059DB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E1C3B8-09B3-B8AD-33CD-3FA4B52510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356" y="283338"/>
            <a:ext cx="9641702" cy="621965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z="4000" spc="-125" dirty="0"/>
              <a:t>Softmax</a:t>
            </a:r>
            <a:r>
              <a:rPr sz="4000" spc="-303" dirty="0"/>
              <a:t> </a:t>
            </a:r>
            <a:r>
              <a:rPr sz="4000" spc="-148" dirty="0"/>
              <a:t>Function</a:t>
            </a:r>
            <a:r>
              <a:rPr lang="en-US" sz="4000" spc="-148" dirty="0"/>
              <a:t> (for Multiclass Classification)</a:t>
            </a:r>
            <a:endParaRPr sz="4000" spc="-148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7E318A7-6815-EBD1-7869-DABA92965E6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C86F00B-B9CE-00F8-9D69-88B194F20CF9}"/>
                  </a:ext>
                </a:extLst>
              </p:cNvPr>
              <p:cNvSpPr txBox="1"/>
              <p:nvPr/>
            </p:nvSpPr>
            <p:spPr>
              <a:xfrm>
                <a:off x="-426967" y="1924180"/>
                <a:ext cx="6765283" cy="879921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C86F00B-B9CE-00F8-9D69-88B194F20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6967" y="1924180"/>
                <a:ext cx="6765283" cy="8799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4">
            <a:extLst>
              <a:ext uri="{FF2B5EF4-FFF2-40B4-BE49-F238E27FC236}">
                <a16:creationId xmlns:a16="http://schemas.microsoft.com/office/drawing/2014/main" id="{30208FA4-652B-230F-09A7-7F9A0738D6EE}"/>
              </a:ext>
            </a:extLst>
          </p:cNvPr>
          <p:cNvSpPr txBox="1"/>
          <p:nvPr/>
        </p:nvSpPr>
        <p:spPr>
          <a:xfrm>
            <a:off x="680350" y="5766998"/>
            <a:ext cx="5235707" cy="6835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kumimoji="0" lang="en-US" sz="2200" b="1" i="0" u="sng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Note:</a:t>
            </a:r>
            <a:r>
              <a:rPr kumimoji="0" lang="en-US" sz="2200" b="0" i="0" u="sng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Sigmoid is a special case of Softmax. </a:t>
            </a:r>
            <a:r>
              <a:rPr kumimoji="0" lang="en-US" sz="2200" b="0" i="0" strike="noStrike" kern="1200" cap="none" spc="-93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Optional: Can you prove it?</a:t>
            </a:r>
            <a:endParaRPr kumimoji="0" lang="en-US" sz="2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F99986E-BBCD-724B-92E8-351381A6DA64}"/>
                  </a:ext>
                </a:extLst>
              </p:cNvPr>
              <p:cNvSpPr txBox="1"/>
              <p:nvPr/>
            </p:nvSpPr>
            <p:spPr>
              <a:xfrm>
                <a:off x="5310130" y="2045365"/>
                <a:ext cx="6688097" cy="627736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:r>
                  <a:rPr lang="en-US" b="1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Numerator: </a:t>
                </a:r>
                <a:r>
                  <a:rPr lang="en-US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The exponential of the </a:t>
                </a:r>
                <a14:m>
                  <m:oMath xmlns:m="http://schemas.openxmlformats.org/officeDocument/2006/math">
                    <m:r>
                      <a:rPr lang="en-US" spc="-93" dirty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Trebuchet MS"/>
                      </a:rPr>
                      <m:t>𝑖𝑡h</m:t>
                    </m:r>
                  </m:oMath>
                </a14:m>
                <a:r>
                  <a:rPr lang="en-US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 class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spc="-93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Trebuchet M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pc="-93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Trebuchet MS"/>
                                  </a:rPr>
                                </m:ctrlPr>
                              </m:sSubPr>
                              <m:e>
                                <m:r>
                                  <a:rPr lang="en-US" spc="-93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Trebuchet MS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pc="-93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Trebuchet M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.</a:t>
                </a:r>
              </a:p>
              <a:p>
                <a:pPr marL="635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:r>
                  <a:rPr lang="en-US" b="1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Denominator: </a:t>
                </a:r>
                <a:r>
                  <a:rPr lang="en-US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The sum of the exponentials of all classes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𝑗</m:t>
                        </m:r>
                        <m:r>
                          <a:rPr lang="en-US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=1</m:t>
                        </m:r>
                      </m:sub>
                      <m:sup>
                        <m:r>
                          <a:rPr lang="en-US" spc="-93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 spc="-93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Trebuchet M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pc="-93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Trebuchet MS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spc="-93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Trebuchet M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pc="-93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cs typeface="Trebuchet M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pc="-93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cs typeface="Trebuchet M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pc="-93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cs typeface="Trebuchet MS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pc="-93" dirty="0">
                    <a:solidFill>
                      <a:srgbClr val="535353"/>
                    </a:solidFill>
                    <a:latin typeface="Trebuchet MS"/>
                    <a:cs typeface="Trebuchet MS"/>
                  </a:rPr>
                  <a:t>.</a:t>
                </a: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F99986E-BBCD-724B-92E8-351381A6D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130" y="2045365"/>
                <a:ext cx="6688097" cy="627736"/>
              </a:xfrm>
              <a:prstGeom prst="rect">
                <a:avLst/>
              </a:prstGeom>
              <a:blipFill>
                <a:blip r:embed="rId4"/>
                <a:stretch>
                  <a:fillRect l="-2005" t="-28155" b="-110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4">
            <a:extLst>
              <a:ext uri="{FF2B5EF4-FFF2-40B4-BE49-F238E27FC236}">
                <a16:creationId xmlns:a16="http://schemas.microsoft.com/office/drawing/2014/main" id="{89D82453-8E14-9121-B038-5E055DB7FA8A}"/>
              </a:ext>
            </a:extLst>
          </p:cNvPr>
          <p:cNvSpPr txBox="1"/>
          <p:nvPr/>
        </p:nvSpPr>
        <p:spPr>
          <a:xfrm>
            <a:off x="680351" y="4177120"/>
            <a:ext cx="4629779" cy="83740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pc="-93" dirty="0">
                <a:solidFill>
                  <a:srgbClr val="535353"/>
                </a:solidFill>
                <a:latin typeface="Trebuchet MS"/>
              </a:rPr>
              <a:t>Assuming you have K classes, its output would be </a:t>
            </a:r>
            <a:r>
              <a:rPr lang="en-US" b="1" u="sng" spc="-93" dirty="0">
                <a:solidFill>
                  <a:srgbClr val="535353"/>
                </a:solidFill>
                <a:latin typeface="Trebuchet MS"/>
              </a:rPr>
              <a:t>the probability of the </a:t>
            </a:r>
            <a:r>
              <a:rPr lang="en-US" b="1" u="sng" spc="-93" dirty="0" err="1">
                <a:solidFill>
                  <a:srgbClr val="535353"/>
                </a:solidFill>
                <a:latin typeface="Trebuchet MS"/>
              </a:rPr>
              <a:t>ith</a:t>
            </a:r>
            <a:r>
              <a:rPr lang="en-US" b="1" u="sng" spc="-93" dirty="0">
                <a:solidFill>
                  <a:srgbClr val="535353"/>
                </a:solidFill>
                <a:latin typeface="Trebuchet MS"/>
              </a:rPr>
              <a:t> class</a:t>
            </a:r>
            <a:r>
              <a:rPr lang="en-US" spc="-93" dirty="0">
                <a:solidFill>
                  <a:srgbClr val="535353"/>
                </a:solidFill>
                <a:latin typeface="Trebuchet MS"/>
              </a:rPr>
              <a:t>. So, you will run it K times to get the probability of each class.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29863CF-0F8C-8FEB-D0C9-31F8D39D58F9}"/>
              </a:ext>
            </a:extLst>
          </p:cNvPr>
          <p:cNvSpPr txBox="1"/>
          <p:nvPr/>
        </p:nvSpPr>
        <p:spPr>
          <a:xfrm>
            <a:off x="5310130" y="2925286"/>
            <a:ext cx="5235708" cy="5732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b="1" spc="-93" dirty="0">
                <a:solidFill>
                  <a:srgbClr val="535353"/>
                </a:solidFill>
                <a:latin typeface="Trebuchet MS"/>
              </a:rPr>
              <a:t>E.g. </a:t>
            </a:r>
            <a:r>
              <a:rPr lang="en-US" spc="-93" dirty="0">
                <a:solidFill>
                  <a:srgbClr val="535353"/>
                </a:solidFill>
                <a:latin typeface="Trebuchet MS"/>
              </a:rPr>
              <a:t>Divide the </a:t>
            </a:r>
            <a:r>
              <a:rPr lang="en-US" u="sng" spc="-93" dirty="0">
                <a:solidFill>
                  <a:srgbClr val="535353"/>
                </a:solidFill>
                <a:latin typeface="Trebuchet MS"/>
              </a:rPr>
              <a:t>cat value</a:t>
            </a:r>
            <a:r>
              <a:rPr lang="en-US" spc="-93" dirty="0">
                <a:solidFill>
                  <a:srgbClr val="535353"/>
                </a:solidFill>
                <a:latin typeface="Trebuchet MS"/>
              </a:rPr>
              <a:t> by the </a:t>
            </a:r>
            <a:r>
              <a:rPr lang="en-US" u="sng" spc="-93" dirty="0">
                <a:solidFill>
                  <a:srgbClr val="535353"/>
                </a:solidFill>
                <a:latin typeface="Trebuchet MS"/>
              </a:rPr>
              <a:t>cat, dog and deer values </a:t>
            </a:r>
            <a:r>
              <a:rPr lang="en-US" spc="-93" dirty="0">
                <a:solidFill>
                  <a:srgbClr val="535353"/>
                </a:solidFill>
                <a:latin typeface="Trebuchet MS"/>
              </a:rPr>
              <a:t>to get the </a:t>
            </a:r>
            <a:r>
              <a:rPr lang="en-US" u="sng" spc="-93" dirty="0">
                <a:solidFill>
                  <a:srgbClr val="535353"/>
                </a:solidFill>
                <a:latin typeface="Trebuchet MS"/>
              </a:rPr>
              <a:t>cat probability</a:t>
            </a:r>
            <a:r>
              <a:rPr lang="en-US" spc="-93" dirty="0">
                <a:solidFill>
                  <a:srgbClr val="535353"/>
                </a:solidFill>
                <a:latin typeface="Trebuchet MS"/>
              </a:rPr>
              <a:t>.</a:t>
            </a:r>
          </a:p>
        </p:txBody>
      </p:sp>
      <p:pic>
        <p:nvPicPr>
          <p:cNvPr id="2050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EE273A90-341D-4169-B79B-DF9EEE0E9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060" y="3619705"/>
            <a:ext cx="4894184" cy="298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49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EA76-39C0-D285-776A-064416D8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36E106-5CA2-970C-FAE2-E9BB4AFC4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Classification Loss</a:t>
            </a:r>
            <a:endParaRPr spc="-16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77A09D1-E4CF-1D34-B3AC-81F20A0FB96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57F23F3-C639-F7DC-CCBF-3E285492899F}"/>
              </a:ext>
            </a:extLst>
          </p:cNvPr>
          <p:cNvSpPr txBox="1"/>
          <p:nvPr/>
        </p:nvSpPr>
        <p:spPr>
          <a:xfrm>
            <a:off x="831205" y="1272310"/>
            <a:ext cx="9634819" cy="265585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We are searching for a loss that have the following characteristics: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Probabilistic </a:t>
            </a:r>
            <a:r>
              <a:rPr lang="en-US" sz="2400" b="1" dirty="0" err="1"/>
              <a:t>behaviour</a:t>
            </a:r>
            <a:r>
              <a:rPr lang="en-US" sz="2400" dirty="0"/>
              <a:t>: Should work with probabilities, not raw numbers.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Sensitivity</a:t>
            </a:r>
            <a:r>
              <a:rPr lang="en-US" sz="2400" dirty="0"/>
              <a:t>: It should heavily penalize incorrect confident predictions  (e.g., predicting 0.9 when the true label is 0).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Differentiable</a:t>
            </a:r>
            <a:r>
              <a:rPr lang="en-US" sz="2400" dirty="0"/>
              <a:t>: Must be smooth and differentiable to enable optimization.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Any ideas?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6851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6AF5-BDB9-D0AC-06E5-6456DDFF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D58E23-DC07-C9D4-ACC5-F0E8A4A52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28" y="296818"/>
            <a:ext cx="6765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lang="en-US" spc="-175" dirty="0"/>
              <a:t>Classification Loss</a:t>
            </a:r>
            <a:endParaRPr spc="-16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9CA327D-C1DC-85F7-3FE1-7A041C6A014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C78276C-27EF-875C-C4A2-3B159D05AEA0}"/>
              </a:ext>
            </a:extLst>
          </p:cNvPr>
          <p:cNvSpPr txBox="1"/>
          <p:nvPr/>
        </p:nvSpPr>
        <p:spPr>
          <a:xfrm>
            <a:off x="831205" y="1272310"/>
            <a:ext cx="9634819" cy="39254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We are searching for a loss that have the following characteristics: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Probabilistic </a:t>
            </a:r>
            <a:r>
              <a:rPr lang="en-US" sz="2400" b="1" dirty="0" err="1"/>
              <a:t>behaviour</a:t>
            </a:r>
            <a:r>
              <a:rPr lang="en-US" sz="2400" dirty="0"/>
              <a:t>: Should work with probabilities, not raw numbers.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Sensitivity</a:t>
            </a:r>
            <a:r>
              <a:rPr lang="en-US" sz="2400" dirty="0"/>
              <a:t>: It should heavily penalize incorrect confident predictions  (e.g., predicting 0.9 when the true label is 0).</a:t>
            </a:r>
          </a:p>
          <a:p>
            <a:pPr marL="46355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Differentiable</a:t>
            </a:r>
            <a:r>
              <a:rPr lang="en-US" sz="2400" dirty="0"/>
              <a:t>: Must be smooth and differentiable to enable optimization.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Any ideas?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3200" b="1" dirty="0"/>
              <a:t>Logarithm is all you need :)</a:t>
            </a: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214332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7882-ABEA-6E2D-6F62-2BF7C87E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E643-2A0D-3EBF-397B-20D20DBC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243940"/>
            <a:ext cx="10515600" cy="1325563"/>
          </a:xfrm>
        </p:spPr>
        <p:txBody>
          <a:bodyPr/>
          <a:lstStyle/>
          <a:p>
            <a:r>
              <a:rPr lang="en-US" dirty="0"/>
              <a:t>Binary Cross Entropy (LogLoss)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65D9AA-CD85-B1B0-1D00-987AB3F87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873" y="1569503"/>
                <a:ext cx="11376293" cy="14491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one sample, this can be represented mathematically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765D9AA-CD85-B1B0-1D00-987AB3F87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873" y="1569503"/>
                <a:ext cx="11376293" cy="1449119"/>
              </a:xfrm>
              <a:blipFill>
                <a:blip r:embed="rId2"/>
                <a:stretch>
                  <a:fillRect l="-965" t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7">
                <a:extLst>
                  <a:ext uri="{FF2B5EF4-FFF2-40B4-BE49-F238E27FC236}">
                    <a16:creationId xmlns:a16="http://schemas.microsoft.com/office/drawing/2014/main" id="{34EEF57A-D7D8-35AD-166A-421B40C17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873" y="3007192"/>
                <a:ext cx="592707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the label,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the predicted probability.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sz="2400" dirty="0"/>
                  <a:t> and prediction is close to 1, loss will be close to </a:t>
                </a:r>
                <a:r>
                  <a:rPr lang="en-US" sz="2400" b="1" dirty="0"/>
                  <a:t>zero</a:t>
                </a:r>
                <a:r>
                  <a:rPr lang="en-US" sz="2400" dirty="0"/>
                  <a:t>. (Great!)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sz="2400" dirty="0"/>
                  <a:t> and prediction is close to 0, loss will be close to </a:t>
                </a:r>
                <a:r>
                  <a:rPr lang="en-US" sz="2400" b="1" dirty="0"/>
                  <a:t>infinity</a:t>
                </a:r>
                <a:r>
                  <a:rPr lang="en-US" sz="2400" dirty="0"/>
                  <a:t>. (Very bad!)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/>
                  <a:t>Same behavior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Content Placeholder 7">
                <a:extLst>
                  <a:ext uri="{FF2B5EF4-FFF2-40B4-BE49-F238E27FC236}">
                    <a16:creationId xmlns:a16="http://schemas.microsoft.com/office/drawing/2014/main" id="{34EEF57A-D7D8-35AD-166A-421B40C17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73" y="3007192"/>
                <a:ext cx="5927075" cy="4351338"/>
              </a:xfrm>
              <a:prstGeom prst="rect">
                <a:avLst/>
              </a:prstGeom>
              <a:blipFill>
                <a:blip r:embed="rId3"/>
                <a:stretch>
                  <a:fillRect l="-1543" t="-1961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93F77B81-9D36-E4D6-A6E2-DA46851F2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948" y="3018622"/>
            <a:ext cx="5287179" cy="365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68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D471-252C-5336-DCA4-CDC74F4B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432D-0247-5A9A-0B57-E4AE2232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243940"/>
            <a:ext cx="10515600" cy="1325563"/>
          </a:xfrm>
        </p:spPr>
        <p:txBody>
          <a:bodyPr/>
          <a:lstStyle/>
          <a:p>
            <a:r>
              <a:rPr lang="en-US" dirty="0"/>
              <a:t>Binary Cross Entropy (LogLoss)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3CDCCA7-1C48-63F0-C786-561ADF120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873" y="1569503"/>
                <a:ext cx="1121425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one sample, this can be represented mathematically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Let’s rewrite it in one line:</a:t>
                </a:r>
              </a:p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𝑙𝑜𝑠𝑠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lvl="0" indent="0">
                  <a:buNone/>
                  <a:defRPr/>
                </a:pPr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>
                  <a:buNone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But we have many samples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, not only one, right?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3CDCCA7-1C48-63F0-C786-561ADF120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873" y="1569503"/>
                <a:ext cx="11214253" cy="4351338"/>
              </a:xfrm>
              <a:blipFill>
                <a:blip r:embed="rId2"/>
                <a:stretch>
                  <a:fillRect l="-108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26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24C0-B5BE-E054-98DA-F2D907B8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C909-B36E-F0F4-EF2F-054B31C2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243940"/>
            <a:ext cx="10515600" cy="1325563"/>
          </a:xfrm>
        </p:spPr>
        <p:txBody>
          <a:bodyPr/>
          <a:lstStyle/>
          <a:p>
            <a:r>
              <a:rPr lang="en-US" dirty="0"/>
              <a:t>Binary Cross Entropy (LogLoss)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EFB5CE8-204B-8288-8E4D-9628DC6F1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873" y="1569503"/>
                <a:ext cx="1121425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one sample, this can be represented mathematically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,     </m:t>
                                  </m:r>
                                </m:e>
                              </m:func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Let’s write it in one line:</a:t>
                </a:r>
              </a:p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𝑙𝑜𝑠𝑠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func>
                            <m:func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Sum and average: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𝑙𝑜𝑔𝑙𝑜𝑠𝑠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nary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borderBox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EFB5CE8-204B-8288-8E4D-9628DC6F1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873" y="1569503"/>
                <a:ext cx="11214253" cy="4351338"/>
              </a:xfrm>
              <a:blipFill>
                <a:blip r:embed="rId2"/>
                <a:stretch>
                  <a:fillRect l="-9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9E21ACCF-4680-8F07-5D70-B2A7723D2B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4213" y="5909295"/>
                <a:ext cx="11214253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: Represents the true labels.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: Represents the predicted probabilities for the positive class.</a:t>
                </a:r>
              </a:p>
            </p:txBody>
          </p:sp>
        </mc:Choice>
        <mc:Fallback xmlns="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9E21ACCF-4680-8F07-5D70-B2A7723D2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213" y="5909295"/>
                <a:ext cx="11214253" cy="4351338"/>
              </a:xfrm>
              <a:prstGeom prst="rect">
                <a:avLst/>
              </a:prstGeom>
              <a:blipFill>
                <a:blip r:embed="rId3"/>
                <a:stretch>
                  <a:fillRect l="-16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483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5867" y="219072"/>
            <a:ext cx="7017091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85" dirty="0"/>
              <a:t>How </a:t>
            </a:r>
            <a:r>
              <a:rPr spc="-127" dirty="0"/>
              <a:t>to </a:t>
            </a:r>
            <a:r>
              <a:rPr spc="-158" dirty="0"/>
              <a:t>find optimal</a:t>
            </a:r>
            <a:r>
              <a:rPr spc="-743" dirty="0"/>
              <a:t> </a:t>
            </a:r>
            <a:r>
              <a:rPr spc="-105" dirty="0"/>
              <a:t>Parameters?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02420" y="3081274"/>
            <a:ext cx="2577783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Just 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like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before,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simply</a:t>
            </a:r>
            <a:r>
              <a:rPr kumimoji="0" sz="18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take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01868-A28F-AF22-A873-F2B3227E1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325183"/>
            <a:ext cx="12001500" cy="133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8515A7-F505-7D1F-AB35-71E7DBAF5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420" y="3747979"/>
            <a:ext cx="2540000" cy="469900"/>
          </a:xfrm>
          <a:prstGeom prst="rect">
            <a:avLst/>
          </a:prstGeom>
        </p:spPr>
      </p:pic>
      <p:sp>
        <p:nvSpPr>
          <p:cNvPr id="5" name="object 12">
            <a:extLst>
              <a:ext uri="{FF2B5EF4-FFF2-40B4-BE49-F238E27FC236}">
                <a16:creationId xmlns:a16="http://schemas.microsoft.com/office/drawing/2014/main" id="{C0243F76-2F69-910A-DEAA-43754417C923}"/>
              </a:ext>
            </a:extLst>
          </p:cNvPr>
          <p:cNvSpPr txBox="1"/>
          <p:nvPr/>
        </p:nvSpPr>
        <p:spPr>
          <a:xfrm>
            <a:off x="1873908" y="5323078"/>
            <a:ext cx="4824071" cy="5604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14768" marR="2540" lvl="0" indent="-1308735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However,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does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have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nice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closed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solution</a:t>
            </a:r>
            <a:r>
              <a:rPr kumimoji="0" lang="en-US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,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 </a:t>
            </a:r>
            <a:r>
              <a:rPr kumimoji="0" lang="en-US" sz="1800" b="0" i="0" u="none" strike="noStrike" kern="1200" cap="none" spc="-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unlike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1800" b="0" i="0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MSE</a:t>
            </a:r>
            <a:r>
              <a:rPr kumimoji="0" sz="1800" b="0" i="0" u="none" strike="noStrike" kern="1200" cap="none" spc="-3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case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0671" y="219072"/>
            <a:ext cx="7342287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85" dirty="0"/>
              <a:t>How </a:t>
            </a:r>
            <a:r>
              <a:rPr spc="-127" dirty="0"/>
              <a:t>to </a:t>
            </a:r>
            <a:r>
              <a:rPr spc="-158" dirty="0"/>
              <a:t>find optimal</a:t>
            </a:r>
            <a:r>
              <a:rPr spc="-743" dirty="0"/>
              <a:t> </a:t>
            </a:r>
            <a:r>
              <a:rPr spc="-105" dirty="0"/>
              <a:t>Parameters?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702420" y="3081274"/>
            <a:ext cx="2577783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Just </a:t>
            </a:r>
            <a:r>
              <a:rPr kumimoji="0" sz="18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like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before,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simply</a:t>
            </a:r>
            <a:r>
              <a:rPr kumimoji="0" sz="1800" b="0" i="0" u="none" strike="noStrike" kern="1200" cap="none" spc="-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take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2424" y="5083810"/>
            <a:ext cx="8279447" cy="10169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14768" marR="3581400" lvl="0" indent="-1308735" algn="l" defTabSz="914400" rtl="0" eaLnBrk="1" fontAlgn="auto" latinLnBrk="0" hangingPunct="1">
              <a:lnSpc>
                <a:spcPts val="215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However,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does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5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have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nice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closed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solution  </a:t>
            </a:r>
            <a:r>
              <a:rPr kumimoji="0" lang="en-US" sz="1800" b="0" i="0" u="none" strike="noStrike" kern="1200" cap="none" spc="-1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unlike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 </a:t>
            </a:r>
            <a:r>
              <a:rPr kumimoji="0" sz="1800" b="0" i="0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MSE</a:t>
            </a:r>
            <a:r>
              <a:rPr kumimoji="0" sz="1800" b="0" i="0" u="none" strike="noStrike" kern="1200" cap="none" spc="-3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case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5550853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Instead, </a:t>
            </a:r>
            <a:r>
              <a:rPr kumimoji="0" lang="en-US" sz="18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gradient</a:t>
            </a:r>
            <a:r>
              <a:rPr kumimoji="0" sz="1800" b="0" i="0" u="none" strike="noStrike" kern="1200" cap="none" spc="-30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descent</a:t>
            </a:r>
            <a:r>
              <a:rPr kumimoji="0" lang="en-US" sz="18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(optimizer)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79997" y="6519418"/>
            <a:ext cx="1241108" cy="28341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Learning</a:t>
            </a:r>
            <a:r>
              <a:rPr kumimoji="0" sz="1800" b="0" i="0" u="none" strike="noStrike" kern="1200" cap="none" spc="-16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91603" y="5888558"/>
            <a:ext cx="708343" cy="644208"/>
            <a:chOff x="5135206" y="11777116"/>
            <a:chExt cx="1416685" cy="1288415"/>
          </a:xfrm>
        </p:grpSpPr>
        <p:sp>
          <p:nvSpPr>
            <p:cNvPr id="24" name="object 24"/>
            <p:cNvSpPr/>
            <p:nvPr/>
          </p:nvSpPr>
          <p:spPr>
            <a:xfrm>
              <a:off x="5770727" y="11796166"/>
              <a:ext cx="762000" cy="982980"/>
            </a:xfrm>
            <a:custGeom>
              <a:avLst/>
              <a:gdLst/>
              <a:ahLst/>
              <a:cxnLst/>
              <a:rect l="l" t="t" r="r" b="b"/>
              <a:pathLst>
                <a:path w="762000" h="982979">
                  <a:moveTo>
                    <a:pt x="0" y="491287"/>
                  </a:moveTo>
                  <a:lnTo>
                    <a:pt x="2235" y="437756"/>
                  </a:lnTo>
                  <a:lnTo>
                    <a:pt x="8787" y="385894"/>
                  </a:lnTo>
                  <a:lnTo>
                    <a:pt x="19423" y="336002"/>
                  </a:lnTo>
                  <a:lnTo>
                    <a:pt x="33911" y="288379"/>
                  </a:lnTo>
                  <a:lnTo>
                    <a:pt x="52017" y="243325"/>
                  </a:lnTo>
                  <a:lnTo>
                    <a:pt x="73511" y="201139"/>
                  </a:lnTo>
                  <a:lnTo>
                    <a:pt x="98158" y="162121"/>
                  </a:lnTo>
                  <a:lnTo>
                    <a:pt x="125728" y="126572"/>
                  </a:lnTo>
                  <a:lnTo>
                    <a:pt x="155986" y="94790"/>
                  </a:lnTo>
                  <a:lnTo>
                    <a:pt x="188702" y="67075"/>
                  </a:lnTo>
                  <a:lnTo>
                    <a:pt x="223642" y="43727"/>
                  </a:lnTo>
                  <a:lnTo>
                    <a:pt x="260575" y="25046"/>
                  </a:lnTo>
                  <a:lnTo>
                    <a:pt x="299267" y="11331"/>
                  </a:lnTo>
                  <a:lnTo>
                    <a:pt x="339486" y="2882"/>
                  </a:lnTo>
                  <a:lnTo>
                    <a:pt x="381001" y="0"/>
                  </a:lnTo>
                  <a:lnTo>
                    <a:pt x="422515" y="2882"/>
                  </a:lnTo>
                  <a:lnTo>
                    <a:pt x="462734" y="11331"/>
                  </a:lnTo>
                  <a:lnTo>
                    <a:pt x="501427" y="25046"/>
                  </a:lnTo>
                  <a:lnTo>
                    <a:pt x="538359" y="43727"/>
                  </a:lnTo>
                  <a:lnTo>
                    <a:pt x="573299" y="67075"/>
                  </a:lnTo>
                  <a:lnTo>
                    <a:pt x="606015" y="94790"/>
                  </a:lnTo>
                  <a:lnTo>
                    <a:pt x="636274" y="126572"/>
                  </a:lnTo>
                  <a:lnTo>
                    <a:pt x="663843" y="162121"/>
                  </a:lnTo>
                  <a:lnTo>
                    <a:pt x="688491" y="201139"/>
                  </a:lnTo>
                  <a:lnTo>
                    <a:pt x="709984" y="243325"/>
                  </a:lnTo>
                  <a:lnTo>
                    <a:pt x="728091" y="288379"/>
                  </a:lnTo>
                  <a:lnTo>
                    <a:pt x="742578" y="336002"/>
                  </a:lnTo>
                  <a:lnTo>
                    <a:pt x="753214" y="385894"/>
                  </a:lnTo>
                  <a:lnTo>
                    <a:pt x="759766" y="437756"/>
                  </a:lnTo>
                  <a:lnTo>
                    <a:pt x="762002" y="491287"/>
                  </a:lnTo>
                  <a:lnTo>
                    <a:pt x="759766" y="544818"/>
                  </a:lnTo>
                  <a:lnTo>
                    <a:pt x="753214" y="596680"/>
                  </a:lnTo>
                  <a:lnTo>
                    <a:pt x="742578" y="646572"/>
                  </a:lnTo>
                  <a:lnTo>
                    <a:pt x="728091" y="694195"/>
                  </a:lnTo>
                  <a:lnTo>
                    <a:pt x="709984" y="739249"/>
                  </a:lnTo>
                  <a:lnTo>
                    <a:pt x="688491" y="781435"/>
                  </a:lnTo>
                  <a:lnTo>
                    <a:pt x="663843" y="820453"/>
                  </a:lnTo>
                  <a:lnTo>
                    <a:pt x="636274" y="856003"/>
                  </a:lnTo>
                  <a:lnTo>
                    <a:pt x="606015" y="887785"/>
                  </a:lnTo>
                  <a:lnTo>
                    <a:pt x="573299" y="915500"/>
                  </a:lnTo>
                  <a:lnTo>
                    <a:pt x="538359" y="938848"/>
                  </a:lnTo>
                  <a:lnTo>
                    <a:pt x="501427" y="957529"/>
                  </a:lnTo>
                  <a:lnTo>
                    <a:pt x="462734" y="971244"/>
                  </a:lnTo>
                  <a:lnTo>
                    <a:pt x="422515" y="979692"/>
                  </a:lnTo>
                  <a:lnTo>
                    <a:pt x="381001" y="982575"/>
                  </a:lnTo>
                  <a:lnTo>
                    <a:pt x="339486" y="979692"/>
                  </a:lnTo>
                  <a:lnTo>
                    <a:pt x="299267" y="971244"/>
                  </a:lnTo>
                  <a:lnTo>
                    <a:pt x="260575" y="957529"/>
                  </a:lnTo>
                  <a:lnTo>
                    <a:pt x="223642" y="938848"/>
                  </a:lnTo>
                  <a:lnTo>
                    <a:pt x="188702" y="915500"/>
                  </a:lnTo>
                  <a:lnTo>
                    <a:pt x="155986" y="887785"/>
                  </a:lnTo>
                  <a:lnTo>
                    <a:pt x="125728" y="856003"/>
                  </a:lnTo>
                  <a:lnTo>
                    <a:pt x="98158" y="820453"/>
                  </a:lnTo>
                  <a:lnTo>
                    <a:pt x="73511" y="781435"/>
                  </a:lnTo>
                  <a:lnTo>
                    <a:pt x="52017" y="739249"/>
                  </a:lnTo>
                  <a:lnTo>
                    <a:pt x="33911" y="694195"/>
                  </a:lnTo>
                  <a:lnTo>
                    <a:pt x="19423" y="646572"/>
                  </a:lnTo>
                  <a:lnTo>
                    <a:pt x="8787" y="596680"/>
                  </a:lnTo>
                  <a:lnTo>
                    <a:pt x="2235" y="544818"/>
                  </a:lnTo>
                  <a:lnTo>
                    <a:pt x="0" y="49128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135206" y="12634844"/>
              <a:ext cx="747395" cy="430530"/>
            </a:xfrm>
            <a:custGeom>
              <a:avLst/>
              <a:gdLst/>
              <a:ahLst/>
              <a:cxnLst/>
              <a:rect l="l" t="t" r="r" b="b"/>
              <a:pathLst>
                <a:path w="747395" h="430530">
                  <a:moveTo>
                    <a:pt x="528100" y="75794"/>
                  </a:moveTo>
                  <a:lnTo>
                    <a:pt x="0" y="363150"/>
                  </a:lnTo>
                  <a:lnTo>
                    <a:pt x="36423" y="430082"/>
                  </a:lnTo>
                  <a:lnTo>
                    <a:pt x="564520" y="142728"/>
                  </a:lnTo>
                  <a:lnTo>
                    <a:pt x="528100" y="75794"/>
                  </a:lnTo>
                  <a:close/>
                </a:path>
                <a:path w="747395" h="430530">
                  <a:moveTo>
                    <a:pt x="706967" y="57583"/>
                  </a:moveTo>
                  <a:lnTo>
                    <a:pt x="561568" y="57583"/>
                  </a:lnTo>
                  <a:lnTo>
                    <a:pt x="597992" y="124515"/>
                  </a:lnTo>
                  <a:lnTo>
                    <a:pt x="564520" y="142728"/>
                  </a:lnTo>
                  <a:lnTo>
                    <a:pt x="600938" y="209659"/>
                  </a:lnTo>
                  <a:lnTo>
                    <a:pt x="706967" y="57583"/>
                  </a:lnTo>
                  <a:close/>
                </a:path>
                <a:path w="747395" h="430530">
                  <a:moveTo>
                    <a:pt x="561568" y="57583"/>
                  </a:moveTo>
                  <a:lnTo>
                    <a:pt x="528100" y="75794"/>
                  </a:lnTo>
                  <a:lnTo>
                    <a:pt x="564520" y="142728"/>
                  </a:lnTo>
                  <a:lnTo>
                    <a:pt x="597992" y="124515"/>
                  </a:lnTo>
                  <a:lnTo>
                    <a:pt x="561568" y="57583"/>
                  </a:lnTo>
                  <a:close/>
                </a:path>
                <a:path w="747395" h="430530">
                  <a:moveTo>
                    <a:pt x="747115" y="0"/>
                  </a:moveTo>
                  <a:lnTo>
                    <a:pt x="491680" y="8860"/>
                  </a:lnTo>
                  <a:lnTo>
                    <a:pt x="528100" y="75794"/>
                  </a:lnTo>
                  <a:lnTo>
                    <a:pt x="561568" y="57583"/>
                  </a:lnTo>
                  <a:lnTo>
                    <a:pt x="706967" y="57583"/>
                  </a:lnTo>
                  <a:lnTo>
                    <a:pt x="747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946669B-C25B-E804-9970-E9A2BFD4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325183"/>
            <a:ext cx="12001500" cy="1333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817BBB-E030-3A66-213D-555BB9517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420" y="3747979"/>
            <a:ext cx="2540000" cy="469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1FEFE3C-9FD6-A77F-3C7B-B3E5DEF4E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79" y="5803529"/>
            <a:ext cx="5003800" cy="533400"/>
          </a:xfrm>
          <a:prstGeom prst="rect">
            <a:avLst/>
          </a:prstGeom>
        </p:spPr>
      </p:pic>
      <p:sp>
        <p:nvSpPr>
          <p:cNvPr id="29" name="object 11">
            <a:extLst>
              <a:ext uri="{FF2B5EF4-FFF2-40B4-BE49-F238E27FC236}">
                <a16:creationId xmlns:a16="http://schemas.microsoft.com/office/drawing/2014/main" id="{C0F83AD4-FA5D-096D-BB12-487ADA6B4EB5}"/>
              </a:ext>
            </a:extLst>
          </p:cNvPr>
          <p:cNvSpPr/>
          <p:nvPr/>
        </p:nvSpPr>
        <p:spPr>
          <a:xfrm>
            <a:off x="7190233" y="3119630"/>
            <a:ext cx="3433572" cy="23393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711" y="217548"/>
            <a:ext cx="4807304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175" dirty="0"/>
              <a:t>Logistic</a:t>
            </a:r>
            <a:r>
              <a:rPr spc="-300" dirty="0"/>
              <a:t> </a:t>
            </a:r>
            <a:r>
              <a:rPr spc="-118" dirty="0"/>
              <a:t>Regression</a:t>
            </a:r>
          </a:p>
        </p:txBody>
      </p:sp>
      <p:sp>
        <p:nvSpPr>
          <p:cNvPr id="14" name="object 14"/>
          <p:cNvSpPr/>
          <p:nvPr/>
        </p:nvSpPr>
        <p:spPr>
          <a:xfrm>
            <a:off x="7190767" y="3114213"/>
            <a:ext cx="392748" cy="160020"/>
          </a:xfrm>
          <a:custGeom>
            <a:avLst/>
            <a:gdLst/>
            <a:ahLst/>
            <a:cxnLst/>
            <a:rect l="l" t="t" r="r" b="b"/>
            <a:pathLst>
              <a:path w="785495" h="320040">
                <a:moveTo>
                  <a:pt x="784885" y="0"/>
                </a:moveTo>
                <a:lnTo>
                  <a:pt x="0" y="0"/>
                </a:lnTo>
                <a:lnTo>
                  <a:pt x="0" y="320039"/>
                </a:lnTo>
                <a:lnTo>
                  <a:pt x="784885" y="320039"/>
                </a:lnTo>
                <a:lnTo>
                  <a:pt x="7848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855" y="3406708"/>
            <a:ext cx="5489665" cy="1100301"/>
          </a:xfrm>
          <a:prstGeom prst="rect">
            <a:avLst/>
          </a:prstGeom>
          <a:ln w="508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317818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Learning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rate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11594" y="3576631"/>
            <a:ext cx="708343" cy="644208"/>
            <a:chOff x="4975187" y="7153262"/>
            <a:chExt cx="1416685" cy="1288415"/>
          </a:xfrm>
        </p:grpSpPr>
        <p:sp>
          <p:nvSpPr>
            <p:cNvPr id="19" name="object 19"/>
            <p:cNvSpPr/>
            <p:nvPr/>
          </p:nvSpPr>
          <p:spPr>
            <a:xfrm>
              <a:off x="5610707" y="7172312"/>
              <a:ext cx="762000" cy="982980"/>
            </a:xfrm>
            <a:custGeom>
              <a:avLst/>
              <a:gdLst/>
              <a:ahLst/>
              <a:cxnLst/>
              <a:rect l="l" t="t" r="r" b="b"/>
              <a:pathLst>
                <a:path w="762000" h="982979">
                  <a:moveTo>
                    <a:pt x="0" y="491287"/>
                  </a:moveTo>
                  <a:lnTo>
                    <a:pt x="2235" y="437756"/>
                  </a:lnTo>
                  <a:lnTo>
                    <a:pt x="8787" y="385894"/>
                  </a:lnTo>
                  <a:lnTo>
                    <a:pt x="19423" y="336002"/>
                  </a:lnTo>
                  <a:lnTo>
                    <a:pt x="33911" y="288379"/>
                  </a:lnTo>
                  <a:lnTo>
                    <a:pt x="52017" y="243325"/>
                  </a:lnTo>
                  <a:lnTo>
                    <a:pt x="73511" y="201139"/>
                  </a:lnTo>
                  <a:lnTo>
                    <a:pt x="98158" y="162121"/>
                  </a:lnTo>
                  <a:lnTo>
                    <a:pt x="125728" y="126572"/>
                  </a:lnTo>
                  <a:lnTo>
                    <a:pt x="155986" y="94790"/>
                  </a:lnTo>
                  <a:lnTo>
                    <a:pt x="188702" y="67075"/>
                  </a:lnTo>
                  <a:lnTo>
                    <a:pt x="223642" y="43727"/>
                  </a:lnTo>
                  <a:lnTo>
                    <a:pt x="260575" y="25046"/>
                  </a:lnTo>
                  <a:lnTo>
                    <a:pt x="299267" y="11331"/>
                  </a:lnTo>
                  <a:lnTo>
                    <a:pt x="339486" y="2882"/>
                  </a:lnTo>
                  <a:lnTo>
                    <a:pt x="381001" y="0"/>
                  </a:lnTo>
                  <a:lnTo>
                    <a:pt x="422515" y="2882"/>
                  </a:lnTo>
                  <a:lnTo>
                    <a:pt x="462734" y="11331"/>
                  </a:lnTo>
                  <a:lnTo>
                    <a:pt x="501427" y="25046"/>
                  </a:lnTo>
                  <a:lnTo>
                    <a:pt x="538359" y="43727"/>
                  </a:lnTo>
                  <a:lnTo>
                    <a:pt x="573299" y="67075"/>
                  </a:lnTo>
                  <a:lnTo>
                    <a:pt x="606015" y="94790"/>
                  </a:lnTo>
                  <a:lnTo>
                    <a:pt x="636274" y="126572"/>
                  </a:lnTo>
                  <a:lnTo>
                    <a:pt x="663843" y="162121"/>
                  </a:lnTo>
                  <a:lnTo>
                    <a:pt x="688491" y="201139"/>
                  </a:lnTo>
                  <a:lnTo>
                    <a:pt x="709984" y="243325"/>
                  </a:lnTo>
                  <a:lnTo>
                    <a:pt x="728091" y="288379"/>
                  </a:lnTo>
                  <a:lnTo>
                    <a:pt x="742578" y="336002"/>
                  </a:lnTo>
                  <a:lnTo>
                    <a:pt x="753214" y="385894"/>
                  </a:lnTo>
                  <a:lnTo>
                    <a:pt x="759766" y="437756"/>
                  </a:lnTo>
                  <a:lnTo>
                    <a:pt x="762002" y="491287"/>
                  </a:lnTo>
                  <a:lnTo>
                    <a:pt x="759766" y="544818"/>
                  </a:lnTo>
                  <a:lnTo>
                    <a:pt x="753214" y="596680"/>
                  </a:lnTo>
                  <a:lnTo>
                    <a:pt x="742578" y="646572"/>
                  </a:lnTo>
                  <a:lnTo>
                    <a:pt x="728091" y="694195"/>
                  </a:lnTo>
                  <a:lnTo>
                    <a:pt x="709984" y="739249"/>
                  </a:lnTo>
                  <a:lnTo>
                    <a:pt x="688491" y="781435"/>
                  </a:lnTo>
                  <a:lnTo>
                    <a:pt x="663843" y="820453"/>
                  </a:lnTo>
                  <a:lnTo>
                    <a:pt x="636274" y="856003"/>
                  </a:lnTo>
                  <a:lnTo>
                    <a:pt x="606015" y="887785"/>
                  </a:lnTo>
                  <a:lnTo>
                    <a:pt x="573299" y="915500"/>
                  </a:lnTo>
                  <a:lnTo>
                    <a:pt x="538359" y="938848"/>
                  </a:lnTo>
                  <a:lnTo>
                    <a:pt x="501427" y="957529"/>
                  </a:lnTo>
                  <a:lnTo>
                    <a:pt x="462734" y="971244"/>
                  </a:lnTo>
                  <a:lnTo>
                    <a:pt x="422515" y="979692"/>
                  </a:lnTo>
                  <a:lnTo>
                    <a:pt x="381001" y="982575"/>
                  </a:lnTo>
                  <a:lnTo>
                    <a:pt x="339486" y="979692"/>
                  </a:lnTo>
                  <a:lnTo>
                    <a:pt x="299267" y="971244"/>
                  </a:lnTo>
                  <a:lnTo>
                    <a:pt x="260575" y="957529"/>
                  </a:lnTo>
                  <a:lnTo>
                    <a:pt x="223642" y="938848"/>
                  </a:lnTo>
                  <a:lnTo>
                    <a:pt x="188702" y="915500"/>
                  </a:lnTo>
                  <a:lnTo>
                    <a:pt x="155986" y="887785"/>
                  </a:lnTo>
                  <a:lnTo>
                    <a:pt x="125728" y="856003"/>
                  </a:lnTo>
                  <a:lnTo>
                    <a:pt x="98158" y="820453"/>
                  </a:lnTo>
                  <a:lnTo>
                    <a:pt x="73511" y="781435"/>
                  </a:lnTo>
                  <a:lnTo>
                    <a:pt x="52017" y="739249"/>
                  </a:lnTo>
                  <a:lnTo>
                    <a:pt x="33911" y="694195"/>
                  </a:lnTo>
                  <a:lnTo>
                    <a:pt x="19423" y="646572"/>
                  </a:lnTo>
                  <a:lnTo>
                    <a:pt x="8787" y="596680"/>
                  </a:lnTo>
                  <a:lnTo>
                    <a:pt x="2235" y="544818"/>
                  </a:lnTo>
                  <a:lnTo>
                    <a:pt x="0" y="49128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975187" y="8010995"/>
              <a:ext cx="747395" cy="430530"/>
            </a:xfrm>
            <a:custGeom>
              <a:avLst/>
              <a:gdLst/>
              <a:ahLst/>
              <a:cxnLst/>
              <a:rect l="l" t="t" r="r" b="b"/>
              <a:pathLst>
                <a:path w="747395" h="430529">
                  <a:moveTo>
                    <a:pt x="528103" y="75791"/>
                  </a:moveTo>
                  <a:lnTo>
                    <a:pt x="0" y="363143"/>
                  </a:lnTo>
                  <a:lnTo>
                    <a:pt x="36423" y="430085"/>
                  </a:lnTo>
                  <a:lnTo>
                    <a:pt x="564521" y="142723"/>
                  </a:lnTo>
                  <a:lnTo>
                    <a:pt x="528103" y="75791"/>
                  </a:lnTo>
                  <a:close/>
                </a:path>
                <a:path w="747395" h="430529">
                  <a:moveTo>
                    <a:pt x="706967" y="57581"/>
                  </a:moveTo>
                  <a:lnTo>
                    <a:pt x="561568" y="57581"/>
                  </a:lnTo>
                  <a:lnTo>
                    <a:pt x="597992" y="124510"/>
                  </a:lnTo>
                  <a:lnTo>
                    <a:pt x="564521" y="142723"/>
                  </a:lnTo>
                  <a:lnTo>
                    <a:pt x="600938" y="209651"/>
                  </a:lnTo>
                  <a:lnTo>
                    <a:pt x="706967" y="57581"/>
                  </a:lnTo>
                  <a:close/>
                </a:path>
                <a:path w="747395" h="430529">
                  <a:moveTo>
                    <a:pt x="561568" y="57581"/>
                  </a:moveTo>
                  <a:lnTo>
                    <a:pt x="528103" y="75791"/>
                  </a:lnTo>
                  <a:lnTo>
                    <a:pt x="564521" y="142723"/>
                  </a:lnTo>
                  <a:lnTo>
                    <a:pt x="597992" y="124510"/>
                  </a:lnTo>
                  <a:lnTo>
                    <a:pt x="561568" y="57581"/>
                  </a:lnTo>
                  <a:close/>
                </a:path>
                <a:path w="747395" h="430529">
                  <a:moveTo>
                    <a:pt x="747115" y="0"/>
                  </a:moveTo>
                  <a:lnTo>
                    <a:pt x="491680" y="8851"/>
                  </a:lnTo>
                  <a:lnTo>
                    <a:pt x="528103" y="75791"/>
                  </a:lnTo>
                  <a:lnTo>
                    <a:pt x="561568" y="57581"/>
                  </a:lnTo>
                  <a:lnTo>
                    <a:pt x="706967" y="57581"/>
                  </a:lnTo>
                  <a:lnTo>
                    <a:pt x="7471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01872" y="4932934"/>
            <a:ext cx="6127750" cy="111697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have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linear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model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prediction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For</a:t>
            </a:r>
            <a:r>
              <a:rPr kumimoji="0" sz="1800" b="0" i="0" u="none" strike="noStrike" kern="1200" cap="none" spc="-1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classification,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want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output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probability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ts val="2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map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the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prediction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probabilities</a:t>
            </a:r>
            <a:r>
              <a:rPr kumimoji="0" sz="18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with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sigmoid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29210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91783" algn="l"/>
                <a:tab pos="292100" algn="l"/>
              </a:tabLst>
              <a:defRPr/>
            </a:pPr>
            <a:r>
              <a:rPr kumimoji="0" sz="18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We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have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loss</a:t>
            </a:r>
            <a:r>
              <a:rPr kumimoji="0" sz="1800" b="0" i="0" u="none" strike="noStrike" kern="1200" cap="none" spc="-1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function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(BCE)</a:t>
            </a:r>
            <a:r>
              <a:rPr kumimoji="0" sz="18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sz="18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compare</a:t>
            </a:r>
            <a:r>
              <a:rPr kumimoji="0" sz="1800" b="0" i="0" u="none" strike="noStrike" kern="1200" cap="none" spc="-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sz="1800" b="0" i="0" u="none" strike="noStrike" kern="1200" cap="none" spc="-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models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30FF7-61E8-84C4-7AD4-DB540C348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3510416"/>
            <a:ext cx="5003800" cy="533400"/>
          </a:xfrm>
          <a:prstGeom prst="rect">
            <a:avLst/>
          </a:prstGeom>
        </p:spPr>
      </p:pic>
      <p:sp>
        <p:nvSpPr>
          <p:cNvPr id="5" name="object 11">
            <a:extLst>
              <a:ext uri="{FF2B5EF4-FFF2-40B4-BE49-F238E27FC236}">
                <a16:creationId xmlns:a16="http://schemas.microsoft.com/office/drawing/2014/main" id="{D35F37F2-5B1D-44C1-2A7D-77101CFC7E20}"/>
              </a:ext>
            </a:extLst>
          </p:cNvPr>
          <p:cNvSpPr/>
          <p:nvPr/>
        </p:nvSpPr>
        <p:spPr>
          <a:xfrm>
            <a:off x="7190233" y="3119630"/>
            <a:ext cx="3433572" cy="2339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6B9E2-B664-D98D-647E-7C603552B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1325183"/>
            <a:ext cx="12001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592" y="204216"/>
            <a:ext cx="4728282" cy="683520"/>
          </a:xfrm>
          <a:prstGeom prst="rect">
            <a:avLst/>
          </a:prstGeom>
        </p:spPr>
        <p:txBody>
          <a:bodyPr vert="horz" wrap="square" lIns="0" tIns="6350" rIns="0" bIns="0" rtlCol="0" anchor="ctr">
            <a:spAutoFit/>
          </a:bodyPr>
          <a:lstStyle/>
          <a:p>
            <a:pPr marL="6350">
              <a:lnSpc>
                <a:spcPct val="100000"/>
              </a:lnSpc>
              <a:spcBef>
                <a:spcPts val="50"/>
              </a:spcBef>
            </a:pPr>
            <a:r>
              <a:rPr spc="-175" dirty="0"/>
              <a:t>Logistic</a:t>
            </a:r>
            <a:r>
              <a:rPr spc="-300" dirty="0"/>
              <a:t> </a:t>
            </a:r>
            <a:r>
              <a:rPr spc="-118" dirty="0"/>
              <a:t>Regression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8040661" y="13100338"/>
            <a:ext cx="2639059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3600" b="0" i="0" kern="1200">
                <a:solidFill>
                  <a:srgbClr val="535353"/>
                </a:solidFill>
                <a:latin typeface="Trebuchet MS"/>
                <a:ea typeface="+mn-ea"/>
                <a:cs typeface="Trebuchet M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0" lvl="0" indent="0" algn="l" defTabSz="914400" rtl="0" eaLnBrk="1" fontAlgn="auto" latinLnBrk="0" hangingPunct="1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-14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Adel </a:t>
            </a:r>
            <a:r>
              <a:rPr kumimoji="0" lang="en-GB" sz="3600" b="0" i="0" u="none" strike="noStrike" kern="1200" cap="none" spc="-21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Bibi,</a:t>
            </a:r>
            <a:r>
              <a:rPr kumimoji="0" lang="en-GB" sz="3600" b="0" i="0" u="none" strike="noStrike" kern="1200" cap="none" spc="-47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 </a:t>
            </a:r>
            <a:r>
              <a:rPr kumimoji="0" lang="en-GB" sz="3600" b="0" i="0" u="none" strike="noStrike" kern="1200" cap="none" spc="-75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Trebuchet MS"/>
                <a:ea typeface="+mn-ea"/>
              </a:rPr>
              <a:t>PhD</a:t>
            </a:r>
            <a:endParaRPr kumimoji="0" sz="3600" b="0" i="0" u="none" strike="noStrike" kern="1200" cap="none" spc="-38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Trebuchet MS"/>
              <a:ea typeface="+mn-e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596932"/>
              </p:ext>
            </p:extLst>
          </p:nvPr>
        </p:nvGraphicFramePr>
        <p:xfrm>
          <a:off x="1283205" y="1406843"/>
          <a:ext cx="8931108" cy="471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5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2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400" b="1" spc="-140" dirty="0">
                          <a:latin typeface="Trebuchet MS"/>
                          <a:cs typeface="Trebuchet MS"/>
                        </a:rPr>
                        <a:t>Linear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00" dirty="0">
                          <a:latin typeface="Trebuchet MS"/>
                          <a:cs typeface="Trebuchet MS"/>
                        </a:rPr>
                        <a:t>Regression</a:t>
                      </a:r>
                      <a:endParaRPr sz="2400" b="1" dirty="0">
                        <a:latin typeface="Trebuchet MS"/>
                        <a:cs typeface="Trebuchet MS"/>
                      </a:endParaRPr>
                    </a:p>
                  </a:txBody>
                  <a:tcPr marL="0" marR="0" marT="323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400" b="1" spc="-140" dirty="0">
                          <a:latin typeface="Trebuchet MS"/>
                          <a:cs typeface="Trebuchet MS"/>
                        </a:rPr>
                        <a:t>Logistic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00" dirty="0">
                          <a:latin typeface="Trebuchet MS"/>
                          <a:cs typeface="Trebuchet MS"/>
                        </a:rPr>
                        <a:t>Regression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23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32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12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00" dirty="0">
                          <a:latin typeface="Trebuchet MS"/>
                          <a:cs typeface="Trebuchet MS"/>
                        </a:rPr>
                        <a:t>Regression</a:t>
                      </a:r>
                      <a:endParaRPr sz="2400" b="1" dirty="0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12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35" dirty="0">
                          <a:latin typeface="Trebuchet MS"/>
                          <a:cs typeface="Trebuchet MS"/>
                        </a:rPr>
                        <a:t>Classification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1330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400" b="1" spc="-70" dirty="0">
                          <a:latin typeface="Trebuchet MS"/>
                          <a:cs typeface="Trebuchet MS"/>
                        </a:rPr>
                        <a:t>We</a:t>
                      </a:r>
                      <a:r>
                        <a:rPr sz="2400" b="1" spc="-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predict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55" dirty="0">
                          <a:latin typeface="Trebuchet MS"/>
                          <a:cs typeface="Trebuchet MS"/>
                        </a:rPr>
                        <a:t>target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3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0" dirty="0">
                          <a:latin typeface="Trebuchet MS"/>
                          <a:cs typeface="Trebuchet MS"/>
                        </a:rPr>
                        <a:t>any</a:t>
                      </a:r>
                      <a:r>
                        <a:rPr sz="2400" b="1" spc="-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10" dirty="0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30" dirty="0">
                          <a:latin typeface="Trebuchet MS"/>
                          <a:cs typeface="Trebuchet MS"/>
                        </a:rPr>
                        <a:t>value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2702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596265" algn="ctr">
                        <a:lnSpc>
                          <a:spcPct val="102200"/>
                        </a:lnSpc>
                        <a:spcBef>
                          <a:spcPts val="440"/>
                        </a:spcBef>
                      </a:pPr>
                      <a:r>
                        <a:rPr sz="2400" b="1" spc="-70" dirty="0">
                          <a:latin typeface="Trebuchet MS"/>
                          <a:cs typeface="Trebuchet MS"/>
                        </a:rPr>
                        <a:t>We</a:t>
                      </a:r>
                      <a:r>
                        <a:rPr sz="2400" b="1" spc="-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predict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probability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10" dirty="0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30" dirty="0">
                          <a:latin typeface="Trebuchet MS"/>
                          <a:cs typeface="Trebuchet MS"/>
                        </a:rPr>
                        <a:t>value  </a:t>
                      </a:r>
                      <a:r>
                        <a:rPr sz="2400" b="1" spc="-90" dirty="0">
                          <a:latin typeface="Trebuchet MS"/>
                          <a:cs typeface="Trebuchet MS"/>
                        </a:rPr>
                        <a:t>belongs </a:t>
                      </a:r>
                      <a:r>
                        <a:rPr sz="2400" b="1" spc="-114" dirty="0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specific</a:t>
                      </a:r>
                      <a:r>
                        <a:rPr sz="2400" b="1" spc="-5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55" dirty="0">
                          <a:latin typeface="Trebuchet MS"/>
                          <a:cs typeface="Trebuchet MS"/>
                        </a:rPr>
                        <a:t>target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111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Target: </a:t>
                      </a:r>
                      <a:r>
                        <a:rPr sz="2400" b="1" spc="-155" dirty="0">
                          <a:latin typeface="Trebuchet MS"/>
                          <a:cs typeface="Trebuchet MS"/>
                        </a:rPr>
                        <a:t>Real</a:t>
                      </a:r>
                      <a:r>
                        <a:rPr sz="2400" b="1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Values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210" dirty="0">
                          <a:latin typeface="Trebuchet MS"/>
                          <a:cs typeface="Trebuchet MS"/>
                        </a:rPr>
                        <a:t>Target: </a:t>
                      </a:r>
                      <a:r>
                        <a:rPr sz="2400" b="1" spc="-130" dirty="0">
                          <a:latin typeface="Trebuchet MS"/>
                          <a:cs typeface="Trebuchet MS"/>
                        </a:rPr>
                        <a:t>Discrete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14" dirty="0">
                          <a:latin typeface="Trebuchet MS"/>
                          <a:cs typeface="Trebuchet MS"/>
                        </a:rPr>
                        <a:t>values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33"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Graph: </a:t>
                      </a:r>
                      <a:r>
                        <a:rPr sz="2400" b="1" spc="-130" dirty="0">
                          <a:latin typeface="Trebuchet MS"/>
                          <a:cs typeface="Trebuchet MS"/>
                        </a:rPr>
                        <a:t>Straight</a:t>
                      </a:r>
                      <a:r>
                        <a:rPr sz="2400" b="1" spc="-2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Line</a:t>
                      </a:r>
                      <a:endParaRPr sz="2400" b="1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b="1" spc="-145" dirty="0">
                          <a:latin typeface="Trebuchet MS"/>
                          <a:cs typeface="Trebuchet MS"/>
                        </a:rPr>
                        <a:t>Graph:</a:t>
                      </a:r>
                      <a:r>
                        <a:rPr sz="2400" b="1" spc="-20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spc="-125" dirty="0">
                          <a:latin typeface="Trebuchet MS"/>
                          <a:cs typeface="Trebuchet MS"/>
                        </a:rPr>
                        <a:t>S-curve</a:t>
                      </a:r>
                      <a:endParaRPr sz="2400" b="1" dirty="0">
                        <a:latin typeface="Trebuchet MS"/>
                        <a:cs typeface="Trebuchet MS"/>
                      </a:endParaRPr>
                    </a:p>
                  </a:txBody>
                  <a:tcPr marL="0" marR="0" marT="333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5226-50E5-9263-C7D1-529EB528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78C8-5DE6-2E19-90A2-C6729C41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BF0310AA-9D79-F0DF-DA6D-17FA690E9CF5}"/>
              </a:ext>
            </a:extLst>
          </p:cNvPr>
          <p:cNvSpPr txBox="1"/>
          <p:nvPr/>
        </p:nvSpPr>
        <p:spPr>
          <a:xfrm>
            <a:off x="831206" y="1272310"/>
            <a:ext cx="7167040" cy="112723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Accuracy: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Accuracy measures the proportion of correctly classified samples out of the total number of samples.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F72B7111-6D02-FB0D-2EBF-1F371490F9CA}"/>
                  </a:ext>
                </a:extLst>
              </p:cNvPr>
              <p:cNvSpPr txBox="1"/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50"/>
                  </a:spcBef>
                  <a:spcAft>
                    <a:spcPts val="0"/>
                  </a:spcAft>
                  <a:buClrTx/>
                  <a:buSzTx/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𝐶𝑜𝑟𝑟𝑒𝑐𝑡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𝐴𝑙𝑙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F72B7111-6D02-FB0D-2EBF-1F371490F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4">
            <a:extLst>
              <a:ext uri="{FF2B5EF4-FFF2-40B4-BE49-F238E27FC236}">
                <a16:creationId xmlns:a16="http://schemas.microsoft.com/office/drawing/2014/main" id="{335F9D66-DFBA-7363-4A37-63CE9F65128D}"/>
              </a:ext>
            </a:extLst>
          </p:cNvPr>
          <p:cNvSpPr txBox="1"/>
          <p:nvPr/>
        </p:nvSpPr>
        <p:spPr>
          <a:xfrm>
            <a:off x="9617725" y="1883705"/>
            <a:ext cx="2368626" cy="15452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000" b="1" dirty="0"/>
              <a:t>Question: </a:t>
            </a:r>
            <a:r>
              <a:rPr lang="en-US" sz="2000" dirty="0"/>
              <a:t>Why not optimizing for the accuracy directly instead of using LogLoss?</a:t>
            </a:r>
          </a:p>
        </p:txBody>
      </p:sp>
    </p:spTree>
    <p:extLst>
      <p:ext uri="{BB962C8B-B14F-4D97-AF65-F5344CB8AC3E}">
        <p14:creationId xmlns:p14="http://schemas.microsoft.com/office/powerpoint/2010/main" val="435420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C070-0460-61D8-2428-6FF1AD57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16BC-DBEA-51E0-235F-3DFDFAE88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B9016C73-6912-C78C-866A-FFB3743E0C9A}"/>
              </a:ext>
            </a:extLst>
          </p:cNvPr>
          <p:cNvSpPr txBox="1"/>
          <p:nvPr/>
        </p:nvSpPr>
        <p:spPr>
          <a:xfrm>
            <a:off x="831206" y="1272310"/>
            <a:ext cx="7167040" cy="112723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Accuracy: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Accuracy measures the proportion of correctly classified samples out of the total number of samples.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29CAF18B-E401-D94B-4B89-2B975C2114CA}"/>
                  </a:ext>
                </a:extLst>
              </p:cNvPr>
              <p:cNvSpPr txBox="1"/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50"/>
                  </a:spcBef>
                  <a:spcAft>
                    <a:spcPts val="0"/>
                  </a:spcAft>
                  <a:buClrTx/>
                  <a:buSzTx/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𝐶𝑜𝑟𝑟𝑒𝑐𝑡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𝐴𝑙𝑙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29CAF18B-E401-D94B-4B89-2B975C211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4">
            <a:extLst>
              <a:ext uri="{FF2B5EF4-FFF2-40B4-BE49-F238E27FC236}">
                <a16:creationId xmlns:a16="http://schemas.microsoft.com/office/drawing/2014/main" id="{8B062F3E-64E5-B47E-F170-BB9890D9A0EF}"/>
              </a:ext>
            </a:extLst>
          </p:cNvPr>
          <p:cNvSpPr txBox="1"/>
          <p:nvPr/>
        </p:nvSpPr>
        <p:spPr>
          <a:xfrm>
            <a:off x="9617725" y="1883705"/>
            <a:ext cx="2368626" cy="185307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000" b="1" dirty="0"/>
              <a:t>Question: </a:t>
            </a:r>
            <a:r>
              <a:rPr lang="en-US" sz="2000" dirty="0"/>
              <a:t>Why not optimizing for the accuracy directly instead of using LogLoss? 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000" u="sng" dirty="0"/>
              <a:t>Non-differentiable</a:t>
            </a:r>
          </a:p>
        </p:txBody>
      </p:sp>
    </p:spTree>
    <p:extLst>
      <p:ext uri="{BB962C8B-B14F-4D97-AF65-F5344CB8AC3E}">
        <p14:creationId xmlns:p14="http://schemas.microsoft.com/office/powerpoint/2010/main" val="3096900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20C2-C069-16AA-34CD-64D8410D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51BC-B5C2-8BD4-9119-43D112D5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FE32BC12-130E-7CF5-6150-6E3F8B4F1393}"/>
              </a:ext>
            </a:extLst>
          </p:cNvPr>
          <p:cNvSpPr txBox="1"/>
          <p:nvPr/>
        </p:nvSpPr>
        <p:spPr>
          <a:xfrm>
            <a:off x="831206" y="1272310"/>
            <a:ext cx="7167040" cy="112723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Accuracy: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Accuracy measures the proportion of correctly classified samples out of the total number of samples.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ED136DBE-B2F0-2B4C-06C1-FF130B3E9544}"/>
                  </a:ext>
                </a:extLst>
              </p:cNvPr>
              <p:cNvSpPr txBox="1"/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50"/>
                  </a:spcBef>
                  <a:spcAft>
                    <a:spcPts val="0"/>
                  </a:spcAft>
                  <a:buClrTx/>
                  <a:buSzTx/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𝐶𝑜𝑟𝑟𝑒𝑐𝑡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𝐴𝑙𝑙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𝑆𝑎𝑚𝑝𝑙𝑒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ED136DBE-B2F0-2B4C-06C1-FF130B3E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06" y="2597873"/>
                <a:ext cx="7167040" cy="7698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4">
            <a:extLst>
              <a:ext uri="{FF2B5EF4-FFF2-40B4-BE49-F238E27FC236}">
                <a16:creationId xmlns:a16="http://schemas.microsoft.com/office/drawing/2014/main" id="{2981469A-48C5-6EFF-F25D-B0C558DB65B2}"/>
              </a:ext>
            </a:extLst>
          </p:cNvPr>
          <p:cNvSpPr txBox="1"/>
          <p:nvPr/>
        </p:nvSpPr>
        <p:spPr>
          <a:xfrm>
            <a:off x="9617725" y="1883705"/>
            <a:ext cx="2368626" cy="185307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000" b="1" dirty="0"/>
              <a:t>Question: </a:t>
            </a:r>
            <a:r>
              <a:rPr lang="en-US" sz="2000" dirty="0"/>
              <a:t>Why not optimizing for the accuracy directly instead of using LogLoss? 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000" u="sng" dirty="0"/>
              <a:t>Non-differentiable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94DE663-B288-0089-7F82-E403240B61E9}"/>
              </a:ext>
            </a:extLst>
          </p:cNvPr>
          <p:cNvSpPr txBox="1"/>
          <p:nvPr/>
        </p:nvSpPr>
        <p:spPr>
          <a:xfrm>
            <a:off x="831206" y="3370816"/>
            <a:ext cx="7167040" cy="37574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	Could also be written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3F48D8E-DBB1-49DC-0085-DB9607E1131F}"/>
                  </a:ext>
                </a:extLst>
              </p:cNvPr>
              <p:cNvSpPr txBox="1"/>
              <p:nvPr/>
            </p:nvSpPr>
            <p:spPr>
              <a:xfrm>
                <a:off x="983606" y="4099324"/>
                <a:ext cx="7167040" cy="704039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50"/>
                  </a:spcBef>
                  <a:spcAft>
                    <a:spcPts val="0"/>
                  </a:spcAft>
                  <a:buClrTx/>
                  <a:buSzTx/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3F48D8E-DBB1-49DC-0085-DB9607E11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06" y="4099324"/>
                <a:ext cx="7167040" cy="704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4">
            <a:extLst>
              <a:ext uri="{FF2B5EF4-FFF2-40B4-BE49-F238E27FC236}">
                <a16:creationId xmlns:a16="http://schemas.microsoft.com/office/drawing/2014/main" id="{8913C763-1E09-3E81-7F49-AAB6423691A6}"/>
              </a:ext>
            </a:extLst>
          </p:cNvPr>
          <p:cNvSpPr txBox="1"/>
          <p:nvPr/>
        </p:nvSpPr>
        <p:spPr>
          <a:xfrm>
            <a:off x="983606" y="4797829"/>
            <a:ext cx="7167040" cy="190436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Where: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	TP: True Positives</a:t>
            </a:r>
          </a:p>
          <a:p>
            <a:pPr marL="6350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	TN: True Negatives</a:t>
            </a:r>
          </a:p>
          <a:p>
            <a:pPr marL="6350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	FP: False Positives</a:t>
            </a:r>
          </a:p>
          <a:p>
            <a:pPr marL="6350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	FN: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3859079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F72D-D359-CA90-2957-E66DE03D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174A-AE9F-D987-4FA1-1EEA8007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38E8A035-C7D9-800D-B080-1106258FB8E7}"/>
              </a:ext>
            </a:extLst>
          </p:cNvPr>
          <p:cNvSpPr txBox="1"/>
          <p:nvPr/>
        </p:nvSpPr>
        <p:spPr>
          <a:xfrm>
            <a:off x="831206" y="1272310"/>
            <a:ext cx="9833122" cy="152221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But accuracy isn’t always enough!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/>
              <a:t>Imagine an </a:t>
            </a:r>
            <a:r>
              <a:rPr lang="en-US" sz="2400" u="sng"/>
              <a:t>imbalanced</a:t>
            </a:r>
            <a:r>
              <a:rPr lang="en-US" sz="2400"/>
              <a:t> </a:t>
            </a:r>
            <a:r>
              <a:rPr lang="en-US" sz="2400" dirty="0"/>
              <a:t>dataset with 95% negative labels (e.g., "not spam"). 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 model predicting "negative" all the time will be 95% accurate but useless.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2878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0477D-9D5B-BCB1-BE75-1AFAF212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044B-9633-1217-A09A-5BF2C4D53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4CD880D1-9D8C-E7F3-DE60-E2D1B253C228}"/>
              </a:ext>
            </a:extLst>
          </p:cNvPr>
          <p:cNvSpPr txBox="1"/>
          <p:nvPr/>
        </p:nvSpPr>
        <p:spPr>
          <a:xfrm>
            <a:off x="831206" y="1272310"/>
            <a:ext cx="5264794" cy="340734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b="1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b="1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b="1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dirty="0"/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u="sng" dirty="0"/>
              <a:t>Different goals require different metrics</a:t>
            </a:r>
          </a:p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Do you care more about </a:t>
            </a:r>
            <a:r>
              <a:rPr lang="en-US" sz="2400" b="1" dirty="0"/>
              <a:t>catching all positives</a:t>
            </a:r>
            <a:r>
              <a:rPr lang="en-US" sz="2400" dirty="0"/>
              <a:t> (e.g., cancer detection)?</a:t>
            </a:r>
          </a:p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Or avoiding </a:t>
            </a:r>
            <a:r>
              <a:rPr lang="en-US" sz="2400" b="1" dirty="0"/>
              <a:t>false alarms</a:t>
            </a:r>
            <a:r>
              <a:rPr lang="en-US" sz="2400" dirty="0"/>
              <a:t> (e.g., fraud detection)?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DBF85C4-C47E-C105-42A6-30149BD12E56}"/>
              </a:ext>
            </a:extLst>
          </p:cNvPr>
          <p:cNvSpPr txBox="1"/>
          <p:nvPr/>
        </p:nvSpPr>
        <p:spPr>
          <a:xfrm>
            <a:off x="831206" y="1272310"/>
            <a:ext cx="9833122" cy="152221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But accuracy isn’t always enough!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Imagine an </a:t>
            </a:r>
            <a:r>
              <a:rPr lang="en-US" sz="2400" u="sng" dirty="0"/>
              <a:t>imbalanced</a:t>
            </a:r>
            <a:r>
              <a:rPr lang="en-US" sz="2400" dirty="0"/>
              <a:t> dataset with 95% negative labels (e.g., "not spam"). 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 model predicting "negative" all the time will be 95% accurate but useless.</a:t>
            </a:r>
          </a:p>
          <a:p>
            <a:pPr marL="6350"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tabLst>
                <a:tab pos="291783" algn="l"/>
                <a:tab pos="292100" algn="l"/>
              </a:tabLst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91880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16BB-5312-9C08-6907-A836B73C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6F3D-DF6A-185C-6616-5586C52E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515B931F-FC9E-9623-C5B1-A98B095D0834}"/>
              </a:ext>
            </a:extLst>
          </p:cNvPr>
          <p:cNvSpPr txBox="1"/>
          <p:nvPr/>
        </p:nvSpPr>
        <p:spPr>
          <a:xfrm>
            <a:off x="831206" y="1272310"/>
            <a:ext cx="7167040" cy="187871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Precision: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Among all the positive predictions the model made, how many are actually correct?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important when </a:t>
            </a:r>
            <a:r>
              <a:rPr lang="en-US" sz="2400" b="1" dirty="0"/>
              <a:t>minimizing false alarms</a:t>
            </a:r>
            <a:r>
              <a:rPr lang="en-US" sz="2400" dirty="0"/>
              <a:t> is critical, like in fraud detection or spam filtering.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EEBB090A-D05E-5C15-A577-CC227EE2EEDA}"/>
                  </a:ext>
                </a:extLst>
              </p:cNvPr>
              <p:cNvSpPr txBox="1"/>
              <p:nvPr/>
            </p:nvSpPr>
            <p:spPr>
              <a:xfrm>
                <a:off x="994623" y="3692558"/>
                <a:ext cx="8744288" cy="914289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EEBB090A-D05E-5C15-A577-CC227EE2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23" y="3692558"/>
                <a:ext cx="8744288" cy="914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3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7140-29E8-2231-2434-4A3E630B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56D5-3DF1-49B8-9208-40E8A8E6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96BAE7A8-05FD-F900-BA2D-5EAF3B74824F}"/>
              </a:ext>
            </a:extLst>
          </p:cNvPr>
          <p:cNvSpPr txBox="1"/>
          <p:nvPr/>
        </p:nvSpPr>
        <p:spPr>
          <a:xfrm>
            <a:off x="831206" y="1272310"/>
            <a:ext cx="7167040" cy="187871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Recall: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Among all the actual positives, how many did the model correctly identify?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important when </a:t>
            </a:r>
            <a:r>
              <a:rPr lang="en-US" sz="2400" b="1" dirty="0"/>
              <a:t>catching all positives</a:t>
            </a:r>
            <a:r>
              <a:rPr lang="en-US" sz="2400" dirty="0"/>
              <a:t> is vital, such as in cancer detection.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208BDEDF-D031-C98C-89C0-3812E795C777}"/>
                  </a:ext>
                </a:extLst>
              </p:cNvPr>
              <p:cNvSpPr txBox="1"/>
              <p:nvPr/>
            </p:nvSpPr>
            <p:spPr>
              <a:xfrm>
                <a:off x="994623" y="3692558"/>
                <a:ext cx="8744288" cy="775405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𝑁𝑒𝑔𝑎𝑡𝑖𝑣𝑒𝑠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208BDEDF-D031-C98C-89C0-3812E795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23" y="3692558"/>
                <a:ext cx="8744288" cy="7754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47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241B-A808-C2C5-4518-53AD5698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B912-CD1A-7944-C9D5-DFEF0B82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04DC7402-B7E3-8DA4-5717-EE104CEC8C0F}"/>
              </a:ext>
            </a:extLst>
          </p:cNvPr>
          <p:cNvSpPr txBox="1"/>
          <p:nvPr/>
        </p:nvSpPr>
        <p:spPr>
          <a:xfrm>
            <a:off x="831206" y="1272310"/>
            <a:ext cx="7167040" cy="114005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400" b="1" dirty="0"/>
              <a:t>F1 Score: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What if both precision and recall are important?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400" dirty="0"/>
              <a:t>Take their (harmonic) mean.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190AC83B-CB8D-CAE3-CA86-9C4C099BF345}"/>
                  </a:ext>
                </a:extLst>
              </p:cNvPr>
              <p:cNvSpPr txBox="1"/>
              <p:nvPr/>
            </p:nvSpPr>
            <p:spPr>
              <a:xfrm>
                <a:off x="831206" y="2929792"/>
                <a:ext cx="8744288" cy="998415"/>
              </a:xfrm>
              <a:prstGeom prst="rect">
                <a:avLst/>
              </a:prstGeom>
            </p:spPr>
            <p:txBody>
              <a:bodyPr vert="horz" wrap="square" lIns="0" tIns="6350" rIns="0" bIns="0" rtlCol="0">
                <a:spAutoFit/>
              </a:bodyPr>
              <a:lstStyle/>
              <a:p>
                <a:pPr marL="6350" lvl="0">
                  <a:spcBef>
                    <a:spcPts val="50"/>
                  </a:spcBef>
                  <a:tabLst>
                    <a:tab pos="291783" algn="l"/>
                    <a:tab pos="29210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𝑃𝑟𝑒𝑐𝑖𝑠𝑖𝑜𝑛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𝑅𝑒𝑐𝑎𝑙𝑙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190AC83B-CB8D-CAE3-CA86-9C4C099BF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06" y="2929792"/>
                <a:ext cx="8744288" cy="9984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337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F249-56C8-F927-E0E3-C06E893F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B49F-4CF6-19D4-3A60-5306254E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Other ML Models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AB3206CB-D56C-F29D-B488-82A894D054B3}"/>
              </a:ext>
            </a:extLst>
          </p:cNvPr>
          <p:cNvSpPr txBox="1"/>
          <p:nvPr/>
        </p:nvSpPr>
        <p:spPr>
          <a:xfrm>
            <a:off x="831206" y="1272310"/>
            <a:ext cx="5767898" cy="345607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Support Vector Machine (SVM):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Key Idea</a:t>
            </a:r>
            <a:r>
              <a:rPr lang="en-US" sz="2200" dirty="0"/>
              <a:t>: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SVM finds the best boundary (hyperplane) that separates classes by maximizing the margin between them.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Works well with high-dimensional data and small datasets.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Can be </a:t>
            </a:r>
            <a:r>
              <a:rPr lang="en-US" sz="2200" u="sng" dirty="0"/>
              <a:t>computationally expensive </a:t>
            </a:r>
            <a:r>
              <a:rPr lang="en-US" sz="2200" dirty="0"/>
              <a:t>for large datasets.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8EE1E-36D6-D4ED-E605-DD7C0EE23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14" y="1128255"/>
            <a:ext cx="4387254" cy="2873775"/>
          </a:xfrm>
          <a:prstGeom prst="rect">
            <a:avLst/>
          </a:prstGeom>
        </p:spPr>
      </p:pic>
      <p:pic>
        <p:nvPicPr>
          <p:cNvPr id="5122" name="Picture 2" descr="Fig. 12">
            <a:extLst>
              <a:ext uri="{FF2B5EF4-FFF2-40B4-BE49-F238E27FC236}">
                <a16:creationId xmlns:a16="http://schemas.microsoft.com/office/drawing/2014/main" id="{196F35B9-19DE-FA61-8F44-75C76BAB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756" y="4292857"/>
            <a:ext cx="6754487" cy="231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836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88B60-A2E1-2A29-2658-39AB6E94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B5EE-700F-3067-422D-C3C3A2D5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Other ML Models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0CEC2534-8187-FDF6-6108-A8D5A13D7AE7}"/>
              </a:ext>
            </a:extLst>
          </p:cNvPr>
          <p:cNvSpPr txBox="1"/>
          <p:nvPr/>
        </p:nvSpPr>
        <p:spPr>
          <a:xfrm>
            <a:off x="831206" y="1272310"/>
            <a:ext cx="4379772" cy="447173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Decision Trees: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Key Idea</a:t>
            </a:r>
            <a:r>
              <a:rPr lang="en-US" sz="2200" dirty="0"/>
              <a:t>: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A tree-based model splits data into subsets based on feature thresholds, creating a flowchart-like structure for decision-making.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Overfits very easily.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u="sng" dirty="0"/>
              <a:t>could</a:t>
            </a:r>
            <a:r>
              <a:rPr lang="en-US" sz="2200" dirty="0"/>
              <a:t> work bad if relation between features and the target is linear. (Check the right figure)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endParaRPr lang="en-US" sz="2200" dirty="0"/>
          </a:p>
        </p:txBody>
      </p:sp>
      <p:pic>
        <p:nvPicPr>
          <p:cNvPr id="6" name="Picture 5" descr="A diagram of different birds&#10;&#10;Description automatically generated">
            <a:extLst>
              <a:ext uri="{FF2B5EF4-FFF2-40B4-BE49-F238E27FC236}">
                <a16:creationId xmlns:a16="http://schemas.microsoft.com/office/drawing/2014/main" id="{6882C8BF-A28F-1108-3A87-8718901D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422" y="945199"/>
            <a:ext cx="4727479" cy="3131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47B5A5-A313-EBAD-6CB2-FEB4D4CA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64" y="4417298"/>
            <a:ext cx="6048260" cy="228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73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5F2D-5A97-F31D-DC34-6EA4577B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BA84-BA84-4BF5-F4AC-B2AC753D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Other ML Models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EE46FB21-FFA7-1A53-5CC3-2A4014AB3AFE}"/>
              </a:ext>
            </a:extLst>
          </p:cNvPr>
          <p:cNvSpPr txBox="1"/>
          <p:nvPr/>
        </p:nvSpPr>
        <p:spPr>
          <a:xfrm>
            <a:off x="831206" y="1272310"/>
            <a:ext cx="4379772" cy="448456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Random Forest: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Instead of training one tree, let’s train a forest :)</a:t>
            </a:r>
            <a:endParaRPr lang="en-US" sz="2200" b="1" dirty="0"/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Key Idea</a:t>
            </a:r>
            <a:r>
              <a:rPr lang="en-US" sz="2200" dirty="0"/>
              <a:t>: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Training K decision trees </a:t>
            </a:r>
            <a:r>
              <a:rPr lang="en-US" sz="2200" u="sng" dirty="0"/>
              <a:t>independently</a:t>
            </a:r>
            <a:r>
              <a:rPr lang="en-US" sz="2200" dirty="0"/>
              <a:t>, where each one is fed with a different subset of samples and features.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Then average the results (Regression) or Take the mode (Classification).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Powerful model.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82004-15DB-9955-B9F3-1049B01B5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85" y="1171260"/>
            <a:ext cx="6735115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33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BE98-BA41-CCB8-001C-6592BF9B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A6D2-9D69-1AF7-BA9F-C3AC8B77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9" y="155804"/>
            <a:ext cx="10515600" cy="1325563"/>
          </a:xfrm>
        </p:spPr>
        <p:txBody>
          <a:bodyPr/>
          <a:lstStyle/>
          <a:p>
            <a:r>
              <a:rPr lang="en-US" dirty="0"/>
              <a:t>Other ML Models</a:t>
            </a:r>
            <a:endParaRPr lang="en-PK" dirty="0"/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9C39D6F6-F823-6754-8982-74570A0644C5}"/>
              </a:ext>
            </a:extLst>
          </p:cNvPr>
          <p:cNvSpPr txBox="1"/>
          <p:nvPr/>
        </p:nvSpPr>
        <p:spPr>
          <a:xfrm>
            <a:off x="831206" y="1272310"/>
            <a:ext cx="4148418" cy="345607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4925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Gradient Boosting: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r>
              <a:rPr lang="en-US" sz="2200" b="1" dirty="0"/>
              <a:t>Key Idea</a:t>
            </a:r>
            <a:r>
              <a:rPr lang="en-US" sz="2200" dirty="0"/>
              <a:t>: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Training K decision trees </a:t>
            </a:r>
            <a:r>
              <a:rPr lang="en-US" sz="2200" u="sng" dirty="0"/>
              <a:t>dependently</a:t>
            </a:r>
            <a:r>
              <a:rPr lang="en-US" sz="2200" dirty="0"/>
              <a:t>, where each tree corrects the errors of the previous one. </a:t>
            </a:r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Many versions: </a:t>
            </a:r>
            <a:r>
              <a:rPr lang="en-US" sz="2200" dirty="0" err="1"/>
              <a:t>XGBoost</a:t>
            </a:r>
            <a:r>
              <a:rPr lang="en-US" sz="2200" dirty="0"/>
              <a:t>, </a:t>
            </a:r>
            <a:r>
              <a:rPr lang="en-US" sz="2200" dirty="0" err="1"/>
              <a:t>LightGBM</a:t>
            </a:r>
            <a:r>
              <a:rPr lang="en-US" sz="2200" dirty="0"/>
              <a:t>, </a:t>
            </a:r>
            <a:r>
              <a:rPr lang="en-US" sz="2200" dirty="0" err="1"/>
              <a:t>CatBoost</a:t>
            </a:r>
            <a:r>
              <a:rPr lang="en-US" sz="2200" dirty="0"/>
              <a:t>,…</a:t>
            </a:r>
            <a:r>
              <a:rPr lang="en-US" sz="2200" dirty="0" err="1"/>
              <a:t>etc</a:t>
            </a:r>
            <a:endParaRPr lang="en-US" sz="2200" dirty="0"/>
          </a:p>
          <a:p>
            <a:pPr marL="806450" lvl="1" indent="-342900"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291783" algn="l"/>
                <a:tab pos="292100" algn="l"/>
              </a:tabLst>
              <a:defRPr/>
            </a:pPr>
            <a:r>
              <a:rPr lang="en-US" sz="2200" dirty="0"/>
              <a:t>Top ML models.</a:t>
            </a:r>
          </a:p>
          <a:p>
            <a:pPr marL="463550" lvl="1">
              <a:spcBef>
                <a:spcPts val="50"/>
              </a:spcBef>
              <a:tabLst>
                <a:tab pos="291783" algn="l"/>
                <a:tab pos="292100" algn="l"/>
              </a:tabLst>
              <a:defRPr/>
            </a:pPr>
            <a:endParaRPr lang="en-US" sz="2200" dirty="0"/>
          </a:p>
        </p:txBody>
      </p:sp>
      <p:pic>
        <p:nvPicPr>
          <p:cNvPr id="7174" name="Picture 6" descr="Gradient Boosting in ML - GeeksforGeeks">
            <a:extLst>
              <a:ext uri="{FF2B5EF4-FFF2-40B4-BE49-F238E27FC236}">
                <a16:creationId xmlns:a16="http://schemas.microsoft.com/office/drawing/2014/main" id="{2CBFD60F-0DDC-4403-1A21-FCC96A245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19" y="959572"/>
            <a:ext cx="6327589" cy="345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A72C49-464D-597C-22EC-F78C14A16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08" y="4745088"/>
            <a:ext cx="11876183" cy="181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26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62B756-623D-C14D-B016-5C7BC25F6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 Slight Detour: A Look at Optimization Tools</a:t>
            </a:r>
          </a:p>
        </p:txBody>
      </p:sp>
    </p:spTree>
    <p:extLst>
      <p:ext uri="{BB962C8B-B14F-4D97-AF65-F5344CB8AC3E}">
        <p14:creationId xmlns:p14="http://schemas.microsoft.com/office/powerpoint/2010/main" val="915041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EEBD-5803-070F-EB86-90E95558A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C407-B4A2-4263-FCA8-BA21F0B25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Optimizers </a:t>
            </a:r>
            <a:r>
              <a:rPr lang="en-US" dirty="0"/>
              <a:t>are algorithms that adjust the weights of the model to minimize the loss function during training.</a:t>
            </a:r>
          </a:p>
          <a:p>
            <a:r>
              <a:rPr lang="en-US" dirty="0"/>
              <a:t>They are one of the main components of Deep Learning models.</a:t>
            </a:r>
          </a:p>
          <a:p>
            <a:r>
              <a:rPr lang="en-US" dirty="0"/>
              <a:t>We will go through several types of optimizers in this section.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05193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0AA5-B740-47B0-FEF8-41797462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BDED-42DE-9EFB-E877-27D5F1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45627" cy="1325563"/>
          </a:xfrm>
        </p:spPr>
        <p:txBody>
          <a:bodyPr/>
          <a:lstStyle/>
          <a:p>
            <a:r>
              <a:rPr lang="en-PK" dirty="0"/>
              <a:t>Direction of maximum increase and decrease for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3A72-D75E-950C-5B91-CF1AAF77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Gradient direction is the direction of maximum increase for a function</a:t>
            </a:r>
          </a:p>
          <a:p>
            <a:r>
              <a:rPr lang="en-PK" dirty="0"/>
              <a:t>Negative gradient is the direction of maximum decrease for a function </a:t>
            </a:r>
          </a:p>
        </p:txBody>
      </p:sp>
    </p:spTree>
    <p:extLst>
      <p:ext uri="{BB962C8B-B14F-4D97-AF65-F5344CB8AC3E}">
        <p14:creationId xmlns:p14="http://schemas.microsoft.com/office/powerpoint/2010/main" val="1253294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Shape 1114"/>
          <p:cNvSpPr txBox="1"/>
          <p:nvPr/>
        </p:nvSpPr>
        <p:spPr>
          <a:xfrm>
            <a:off x="1863027" y="206635"/>
            <a:ext cx="6713099" cy="147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600" dirty="0">
                <a:solidFill>
                  <a:srgbClr val="FFFFFF"/>
                </a:solidFill>
                <a:latin typeface="Arial"/>
              </a:rPr>
              <a:t>Gradient Descent</a:t>
            </a:r>
          </a:p>
        </p:txBody>
      </p:sp>
      <p:pic>
        <p:nvPicPr>
          <p:cNvPr id="1115" name="Shape 1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2413000"/>
            <a:ext cx="8534400" cy="20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708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Shape 1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389" y="1013254"/>
            <a:ext cx="2943225" cy="38438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Shape 1122"/>
          <p:cNvCxnSpPr/>
          <p:nvPr/>
        </p:nvCxnSpPr>
        <p:spPr>
          <a:xfrm rot="10800000">
            <a:off x="6578750" y="4459867"/>
            <a:ext cx="17340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3" name="Shape 1123"/>
          <p:cNvSpPr txBox="1"/>
          <p:nvPr/>
        </p:nvSpPr>
        <p:spPr>
          <a:xfrm>
            <a:off x="8498227" y="4197467"/>
            <a:ext cx="18986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00"/>
                </a:solidFill>
                <a:latin typeface="Arial"/>
              </a:rPr>
              <a:t>original W</a:t>
            </a:r>
          </a:p>
        </p:txBody>
      </p:sp>
      <p:cxnSp>
        <p:nvCxnSpPr>
          <p:cNvPr id="1124" name="Shape 1124"/>
          <p:cNvCxnSpPr/>
          <p:nvPr/>
        </p:nvCxnSpPr>
        <p:spPr>
          <a:xfrm rot="10800000" flipH="1">
            <a:off x="3015702" y="4236032"/>
            <a:ext cx="3012599" cy="8784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5" name="Shape 1125"/>
          <p:cNvSpPr txBox="1"/>
          <p:nvPr/>
        </p:nvSpPr>
        <p:spPr>
          <a:xfrm>
            <a:off x="1708052" y="5153200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00"/>
                </a:solidFill>
                <a:latin typeface="Arial"/>
              </a:rPr>
              <a:t>negative gradient direction</a:t>
            </a:r>
          </a:p>
        </p:txBody>
      </p:sp>
      <p:cxnSp>
        <p:nvCxnSpPr>
          <p:cNvPr id="1126" name="Shape 1126"/>
          <p:cNvCxnSpPr/>
          <p:nvPr/>
        </p:nvCxnSpPr>
        <p:spPr>
          <a:xfrm>
            <a:off x="4556501" y="4937333"/>
            <a:ext cx="33056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7" name="Shape 1127"/>
          <p:cNvSpPr txBox="1"/>
          <p:nvPr/>
        </p:nvSpPr>
        <p:spPr>
          <a:xfrm>
            <a:off x="7376452" y="485710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1128" name="Shape 1128"/>
          <p:cNvCxnSpPr/>
          <p:nvPr/>
        </p:nvCxnSpPr>
        <p:spPr>
          <a:xfrm flipV="1">
            <a:off x="4556500" y="1099752"/>
            <a:ext cx="0" cy="383758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9" name="Shape 1129"/>
          <p:cNvSpPr txBox="1"/>
          <p:nvPr/>
        </p:nvSpPr>
        <p:spPr>
          <a:xfrm>
            <a:off x="3620202" y="1193514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W_2</a:t>
            </a:r>
          </a:p>
        </p:txBody>
      </p:sp>
    </p:spTree>
    <p:extLst>
      <p:ext uri="{BB962C8B-B14F-4D97-AF65-F5344CB8AC3E}">
        <p14:creationId xmlns:p14="http://schemas.microsoft.com/office/powerpoint/2010/main" val="116256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1135"/>
          <p:cNvSpPr txBox="1"/>
          <p:nvPr/>
        </p:nvSpPr>
        <p:spPr>
          <a:xfrm>
            <a:off x="1863025" y="206635"/>
            <a:ext cx="8041500" cy="903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600" dirty="0">
                <a:solidFill>
                  <a:srgbClr val="FFFFFF"/>
                </a:solidFill>
                <a:latin typeface="Arial"/>
              </a:rPr>
              <a:t>Mini-batch Gradient Descent</a:t>
            </a:r>
          </a:p>
        </p:txBody>
      </p:sp>
      <p:sp>
        <p:nvSpPr>
          <p:cNvPr id="1136" name="Shape 1136"/>
          <p:cNvSpPr txBox="1"/>
          <p:nvPr/>
        </p:nvSpPr>
        <p:spPr>
          <a:xfrm>
            <a:off x="1949102" y="1330235"/>
            <a:ext cx="7955399" cy="728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indent="-342900">
              <a:buSzPct val="100000"/>
              <a:buFontTx/>
              <a:buChar char="-"/>
            </a:pPr>
            <a:r>
              <a:rPr lang="en" sz="2000" dirty="0">
                <a:solidFill>
                  <a:srgbClr val="000000"/>
                </a:solidFill>
                <a:latin typeface="Arial"/>
              </a:rPr>
              <a:t>only use a small portion of the training set to compute the gradient.</a:t>
            </a:r>
          </a:p>
        </p:txBody>
      </p:sp>
      <p:pic>
        <p:nvPicPr>
          <p:cNvPr id="1137" name="Shape 1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164" y="2134967"/>
            <a:ext cx="8524875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Shape 1138"/>
          <p:cNvSpPr txBox="1"/>
          <p:nvPr/>
        </p:nvSpPr>
        <p:spPr>
          <a:xfrm>
            <a:off x="1863027" y="4849235"/>
            <a:ext cx="7643439" cy="728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00"/>
                </a:solidFill>
                <a:latin typeface="Arial"/>
              </a:rPr>
              <a:t>Common mini-batch sizes are 32/64/128 examples</a:t>
            </a:r>
          </a:p>
          <a:p>
            <a:r>
              <a:rPr lang="en" sz="2000" dirty="0">
                <a:solidFill>
                  <a:srgbClr val="000000"/>
                </a:solidFill>
                <a:latin typeface="Arial"/>
              </a:rPr>
              <a:t>e.g. Krizhevsky ILSVRC ConvNet used 256 examples</a:t>
            </a:r>
          </a:p>
        </p:txBody>
      </p:sp>
    </p:spTree>
    <p:extLst>
      <p:ext uri="{BB962C8B-B14F-4D97-AF65-F5344CB8AC3E}">
        <p14:creationId xmlns:p14="http://schemas.microsoft.com/office/powerpoint/2010/main" val="2575830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Shape 1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225" y="1073495"/>
            <a:ext cx="4405500" cy="4697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Shape 1145"/>
          <p:cNvSpPr txBox="1"/>
          <p:nvPr/>
        </p:nvSpPr>
        <p:spPr>
          <a:xfrm>
            <a:off x="6340750" y="1186249"/>
            <a:ext cx="4164000" cy="425098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00"/>
                </a:solidFill>
                <a:latin typeface="Arial"/>
              </a:rPr>
              <a:t>Example of optimization progress while training a neural network. </a:t>
            </a:r>
          </a:p>
          <a:p>
            <a:endParaRPr sz="2000" dirty="0">
              <a:solidFill>
                <a:srgbClr val="000000"/>
              </a:solidFill>
              <a:latin typeface="Arial"/>
            </a:endParaRPr>
          </a:p>
          <a:p>
            <a:r>
              <a:rPr lang="en" sz="2000" dirty="0">
                <a:solidFill>
                  <a:srgbClr val="000000"/>
                </a:solidFill>
                <a:latin typeface="Arial"/>
              </a:rPr>
              <a:t>(Loss over mini-batches goes down over time.)</a:t>
            </a:r>
          </a:p>
        </p:txBody>
      </p:sp>
    </p:spTree>
    <p:extLst>
      <p:ext uri="{BB962C8B-B14F-4D97-AF65-F5344CB8AC3E}">
        <p14:creationId xmlns:p14="http://schemas.microsoft.com/office/powerpoint/2010/main" val="2179489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Shape 1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663" y="1458097"/>
            <a:ext cx="4371975" cy="438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Shape 1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0" y="1458097"/>
            <a:ext cx="4405500" cy="4275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Shape 1153"/>
          <p:cNvSpPr txBox="1"/>
          <p:nvPr/>
        </p:nvSpPr>
        <p:spPr>
          <a:xfrm>
            <a:off x="1845601" y="193967"/>
            <a:ext cx="8678036" cy="54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800" dirty="0">
                <a:solidFill>
                  <a:srgbClr val="FFFFFF"/>
                </a:solidFill>
                <a:latin typeface="Arial"/>
              </a:rPr>
              <a:t>The effects of step size (or “learning rate”)</a:t>
            </a:r>
          </a:p>
        </p:txBody>
      </p:sp>
    </p:spTree>
    <p:extLst>
      <p:ext uri="{BB962C8B-B14F-4D97-AF65-F5344CB8AC3E}">
        <p14:creationId xmlns:p14="http://schemas.microsoft.com/office/powerpoint/2010/main" val="1698345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Shape 1159"/>
          <p:cNvSpPr txBox="1"/>
          <p:nvPr/>
        </p:nvSpPr>
        <p:spPr>
          <a:xfrm>
            <a:off x="1863025" y="206635"/>
            <a:ext cx="8041500" cy="903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600" dirty="0">
                <a:solidFill>
                  <a:srgbClr val="FFFFFF"/>
                </a:solidFill>
                <a:latin typeface="Arial"/>
              </a:rPr>
              <a:t>Mini-batch Gradient Descent</a:t>
            </a:r>
          </a:p>
        </p:txBody>
      </p:sp>
      <p:sp>
        <p:nvSpPr>
          <p:cNvPr id="1160" name="Shape 1160"/>
          <p:cNvSpPr txBox="1"/>
          <p:nvPr/>
        </p:nvSpPr>
        <p:spPr>
          <a:xfrm>
            <a:off x="1949102" y="1330235"/>
            <a:ext cx="7955399" cy="728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00050" indent="-285750">
              <a:buSzPct val="100000"/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rgbClr val="000000"/>
                </a:solidFill>
                <a:latin typeface="Arial"/>
              </a:rPr>
              <a:t>only use a small portion of the training set to compute the gradient.</a:t>
            </a:r>
          </a:p>
        </p:txBody>
      </p:sp>
      <p:pic>
        <p:nvPicPr>
          <p:cNvPr id="1161" name="Shape 1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164" y="2134967"/>
            <a:ext cx="8524875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Shape 1162"/>
          <p:cNvSpPr txBox="1"/>
          <p:nvPr/>
        </p:nvSpPr>
        <p:spPr>
          <a:xfrm>
            <a:off x="1863027" y="4849235"/>
            <a:ext cx="6784199" cy="728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00"/>
                </a:solidFill>
                <a:latin typeface="Arial"/>
              </a:rPr>
              <a:t>Common mini-batch sizes are 32/64/128 examples</a:t>
            </a:r>
          </a:p>
          <a:p>
            <a:r>
              <a:rPr lang="en" sz="2000" dirty="0">
                <a:solidFill>
                  <a:srgbClr val="000000"/>
                </a:solidFill>
                <a:latin typeface="Arial"/>
              </a:rPr>
              <a:t>e.g. Krizhevsky ILSVRC ConvNet used 256 examples</a:t>
            </a:r>
          </a:p>
        </p:txBody>
      </p:sp>
      <p:sp>
        <p:nvSpPr>
          <p:cNvPr id="1163" name="Shape 1163"/>
          <p:cNvSpPr/>
          <p:nvPr/>
        </p:nvSpPr>
        <p:spPr>
          <a:xfrm>
            <a:off x="2070227" y="4000933"/>
            <a:ext cx="6249599" cy="315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1164"/>
          <p:cNvSpPr txBox="1"/>
          <p:nvPr/>
        </p:nvSpPr>
        <p:spPr>
          <a:xfrm>
            <a:off x="8260875" y="4329535"/>
            <a:ext cx="2736000" cy="164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0000"/>
                </a:solidFill>
                <a:latin typeface="Arial"/>
              </a:rPr>
              <a:t>we will look at more fancy update formulas</a:t>
            </a:r>
          </a:p>
          <a:p>
            <a:r>
              <a:rPr lang="en">
                <a:solidFill>
                  <a:srgbClr val="FF0000"/>
                </a:solidFill>
                <a:latin typeface="Arial"/>
              </a:rPr>
              <a:t>(momentum, Adagrad, RMSProp, Adam, …)</a:t>
            </a:r>
          </a:p>
        </p:txBody>
      </p:sp>
      <p:cxnSp>
        <p:nvCxnSpPr>
          <p:cNvPr id="1165" name="Shape 1165"/>
          <p:cNvCxnSpPr/>
          <p:nvPr/>
        </p:nvCxnSpPr>
        <p:spPr>
          <a:xfrm rot="10800000">
            <a:off x="7490074" y="4341568"/>
            <a:ext cx="652500" cy="79439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964478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hape 1122"/>
          <p:cNvCxnSpPr/>
          <p:nvPr/>
        </p:nvCxnSpPr>
        <p:spPr>
          <a:xfrm flipH="1">
            <a:off x="4583468" y="1881520"/>
            <a:ext cx="263016" cy="1054327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Shape 1123"/>
          <p:cNvSpPr txBox="1"/>
          <p:nvPr/>
        </p:nvSpPr>
        <p:spPr>
          <a:xfrm>
            <a:off x="3263288" y="4942175"/>
            <a:ext cx="18986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original W</a:t>
            </a:r>
          </a:p>
        </p:txBody>
      </p:sp>
      <p:cxnSp>
        <p:nvCxnSpPr>
          <p:cNvPr id="9" name="Shape 1124"/>
          <p:cNvCxnSpPr/>
          <p:nvPr/>
        </p:nvCxnSpPr>
        <p:spPr>
          <a:xfrm flipV="1">
            <a:off x="4212637" y="3940424"/>
            <a:ext cx="237616" cy="1012576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" name="Shape 1125"/>
          <p:cNvSpPr txBox="1"/>
          <p:nvPr/>
        </p:nvSpPr>
        <p:spPr>
          <a:xfrm>
            <a:off x="3806149" y="1369589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T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rue negative gradient direction</a:t>
            </a:r>
          </a:p>
        </p:txBody>
      </p:sp>
      <p:cxnSp>
        <p:nvCxnSpPr>
          <p:cNvPr id="11" name="Shape 1126"/>
          <p:cNvCxnSpPr/>
          <p:nvPr/>
        </p:nvCxnSpPr>
        <p:spPr>
          <a:xfrm>
            <a:off x="2098076" y="4459867"/>
            <a:ext cx="78841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1127"/>
          <p:cNvSpPr txBox="1"/>
          <p:nvPr/>
        </p:nvSpPr>
        <p:spPr>
          <a:xfrm>
            <a:off x="9572584" y="461555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13" name="Shape 1128"/>
          <p:cNvCxnSpPr/>
          <p:nvPr/>
        </p:nvCxnSpPr>
        <p:spPr>
          <a:xfrm flipV="1">
            <a:off x="2089525" y="1276853"/>
            <a:ext cx="0" cy="318301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1129"/>
          <p:cNvSpPr txBox="1"/>
          <p:nvPr/>
        </p:nvSpPr>
        <p:spPr>
          <a:xfrm>
            <a:off x="2205726" y="1104919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W_2</a:t>
            </a:r>
          </a:p>
        </p:txBody>
      </p:sp>
      <p:sp>
        <p:nvSpPr>
          <p:cNvPr id="15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Minibatch updates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205725" y="2418785"/>
            <a:ext cx="8191200" cy="1645800"/>
            <a:chOff x="267999" y="1290025"/>
            <a:chExt cx="8191200" cy="1645800"/>
          </a:xfrm>
        </p:grpSpPr>
        <p:sp>
          <p:nvSpPr>
            <p:cNvPr id="17" name="Shape 159"/>
            <p:cNvSpPr/>
            <p:nvPr/>
          </p:nvSpPr>
          <p:spPr>
            <a:xfrm rot="5400000">
              <a:off x="4151277" y="1047078"/>
              <a:ext cx="425099" cy="2115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Shape 161"/>
            <p:cNvSpPr/>
            <p:nvPr/>
          </p:nvSpPr>
          <p:spPr>
            <a:xfrm rot="5400000">
              <a:off x="3540699" y="-1982675"/>
              <a:ext cx="1645800" cy="81912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Shape 162"/>
            <p:cNvSpPr/>
            <p:nvPr/>
          </p:nvSpPr>
          <p:spPr>
            <a:xfrm rot="5400000">
              <a:off x="3665266" y="-1362686"/>
              <a:ext cx="1397100" cy="69515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Shape 163"/>
            <p:cNvSpPr/>
            <p:nvPr/>
          </p:nvSpPr>
          <p:spPr>
            <a:xfrm rot="5400000">
              <a:off x="3816429" y="-611095"/>
              <a:ext cx="1094400" cy="54479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Shape 164"/>
            <p:cNvSpPr/>
            <p:nvPr/>
          </p:nvSpPr>
          <p:spPr>
            <a:xfrm rot="5400000">
              <a:off x="3943962" y="24191"/>
              <a:ext cx="839399" cy="41775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Shape 165"/>
            <p:cNvSpPr/>
            <p:nvPr/>
          </p:nvSpPr>
          <p:spPr>
            <a:xfrm rot="5400000">
              <a:off x="4057759" y="590436"/>
              <a:ext cx="611699" cy="30449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Shape 167"/>
            <p:cNvSpPr/>
            <p:nvPr/>
          </p:nvSpPr>
          <p:spPr>
            <a:xfrm>
              <a:off x="2450375" y="2660090"/>
              <a:ext cx="135299" cy="13529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Shape 168"/>
            <p:cNvSpPr/>
            <p:nvPr/>
          </p:nvSpPr>
          <p:spPr>
            <a:xfrm>
              <a:off x="4273650" y="1976727"/>
              <a:ext cx="240600" cy="240600"/>
            </a:xfrm>
            <a:prstGeom prst="smileyFace">
              <a:avLst>
                <a:gd name="adj" fmla="val 4653"/>
              </a:avLst>
            </a:prstGeom>
            <a:solidFill>
              <a:srgbClr val="F9CB9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5" name="Shape 186"/>
          <p:cNvCxnSpPr/>
          <p:nvPr/>
        </p:nvCxnSpPr>
        <p:spPr>
          <a:xfrm flipV="1">
            <a:off x="4461542" y="3049288"/>
            <a:ext cx="121927" cy="793800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" name="Shape 185"/>
          <p:cNvCxnSpPr/>
          <p:nvPr/>
        </p:nvCxnSpPr>
        <p:spPr>
          <a:xfrm>
            <a:off x="4411121" y="3856499"/>
            <a:ext cx="594017" cy="67650"/>
          </a:xfrm>
          <a:prstGeom prst="straightConnector1">
            <a:avLst/>
          </a:prstGeom>
          <a:noFill/>
          <a:ln w="19050" cap="flat" cmpd="sng">
            <a:solidFill>
              <a:srgbClr val="008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C417744-5568-A2EB-18A4-CEC896A21EBB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65454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hape 1122"/>
          <p:cNvCxnSpPr/>
          <p:nvPr/>
        </p:nvCxnSpPr>
        <p:spPr>
          <a:xfrm flipH="1">
            <a:off x="4411120" y="1881520"/>
            <a:ext cx="435364" cy="1167769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8" name="Shape 1123"/>
          <p:cNvSpPr txBox="1"/>
          <p:nvPr/>
        </p:nvSpPr>
        <p:spPr>
          <a:xfrm>
            <a:off x="3263288" y="4942175"/>
            <a:ext cx="18986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original W</a:t>
            </a:r>
          </a:p>
        </p:txBody>
      </p:sp>
      <p:cxnSp>
        <p:nvCxnSpPr>
          <p:cNvPr id="29" name="Shape 1124"/>
          <p:cNvCxnSpPr/>
          <p:nvPr/>
        </p:nvCxnSpPr>
        <p:spPr>
          <a:xfrm flipV="1">
            <a:off x="4212637" y="3940424"/>
            <a:ext cx="237616" cy="1012576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" name="Shape 1125"/>
          <p:cNvSpPr txBox="1"/>
          <p:nvPr/>
        </p:nvSpPr>
        <p:spPr>
          <a:xfrm>
            <a:off x="3806148" y="1369589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noisy gradient from minibatch</a:t>
            </a:r>
          </a:p>
        </p:txBody>
      </p:sp>
      <p:cxnSp>
        <p:nvCxnSpPr>
          <p:cNvPr id="31" name="Shape 1126"/>
          <p:cNvCxnSpPr/>
          <p:nvPr/>
        </p:nvCxnSpPr>
        <p:spPr>
          <a:xfrm>
            <a:off x="2098076" y="4459867"/>
            <a:ext cx="78841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" name="Shape 1127"/>
          <p:cNvSpPr txBox="1"/>
          <p:nvPr/>
        </p:nvSpPr>
        <p:spPr>
          <a:xfrm>
            <a:off x="9572584" y="461555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33" name="Shape 1128"/>
          <p:cNvCxnSpPr/>
          <p:nvPr/>
        </p:nvCxnSpPr>
        <p:spPr>
          <a:xfrm flipV="1">
            <a:off x="2089525" y="1276853"/>
            <a:ext cx="0" cy="318301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" name="Shape 1129"/>
          <p:cNvSpPr txBox="1"/>
          <p:nvPr/>
        </p:nvSpPr>
        <p:spPr>
          <a:xfrm>
            <a:off x="2205726" y="1104919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W_2</a:t>
            </a:r>
          </a:p>
        </p:txBody>
      </p:sp>
      <p:sp>
        <p:nvSpPr>
          <p:cNvPr id="35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</a:rPr>
              <a:t>Minibatch</a:t>
            </a:r>
            <a:r>
              <a:rPr lang="en" sz="3200" dirty="0">
                <a:solidFill>
                  <a:srgbClr val="FFFFFF"/>
                </a:solidFill>
                <a:latin typeface="Arial"/>
              </a:rPr>
              <a:t> Gradient Descent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205725" y="2418785"/>
            <a:ext cx="8191200" cy="1645800"/>
            <a:chOff x="267999" y="1290025"/>
            <a:chExt cx="8191200" cy="1645800"/>
          </a:xfrm>
        </p:grpSpPr>
        <p:sp>
          <p:nvSpPr>
            <p:cNvPr id="37" name="Shape 159"/>
            <p:cNvSpPr/>
            <p:nvPr/>
          </p:nvSpPr>
          <p:spPr>
            <a:xfrm rot="5400000">
              <a:off x="4151277" y="1047078"/>
              <a:ext cx="425099" cy="2115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Shape 161"/>
            <p:cNvSpPr/>
            <p:nvPr/>
          </p:nvSpPr>
          <p:spPr>
            <a:xfrm rot="5400000">
              <a:off x="3540699" y="-1982675"/>
              <a:ext cx="1645800" cy="81912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Shape 162"/>
            <p:cNvSpPr/>
            <p:nvPr/>
          </p:nvSpPr>
          <p:spPr>
            <a:xfrm rot="5400000">
              <a:off x="3665266" y="-1362686"/>
              <a:ext cx="1397100" cy="69515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Shape 163"/>
            <p:cNvSpPr/>
            <p:nvPr/>
          </p:nvSpPr>
          <p:spPr>
            <a:xfrm rot="5400000">
              <a:off x="3816429" y="-611095"/>
              <a:ext cx="1094400" cy="54479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Shape 164"/>
            <p:cNvSpPr/>
            <p:nvPr/>
          </p:nvSpPr>
          <p:spPr>
            <a:xfrm rot="5400000">
              <a:off x="3943962" y="24191"/>
              <a:ext cx="839399" cy="41775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Shape 165"/>
            <p:cNvSpPr/>
            <p:nvPr/>
          </p:nvSpPr>
          <p:spPr>
            <a:xfrm rot="5400000">
              <a:off x="4057759" y="590436"/>
              <a:ext cx="611699" cy="3044999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Shape 167"/>
            <p:cNvSpPr/>
            <p:nvPr/>
          </p:nvSpPr>
          <p:spPr>
            <a:xfrm>
              <a:off x="2450375" y="2660090"/>
              <a:ext cx="135299" cy="13529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Shape 168"/>
            <p:cNvSpPr/>
            <p:nvPr/>
          </p:nvSpPr>
          <p:spPr>
            <a:xfrm>
              <a:off x="4273650" y="1976727"/>
              <a:ext cx="240600" cy="240600"/>
            </a:xfrm>
            <a:prstGeom prst="smileyFace">
              <a:avLst>
                <a:gd name="adj" fmla="val 4653"/>
              </a:avLst>
            </a:prstGeom>
            <a:solidFill>
              <a:srgbClr val="F9CB9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5" name="Shape 186"/>
          <p:cNvCxnSpPr/>
          <p:nvPr/>
        </p:nvCxnSpPr>
        <p:spPr>
          <a:xfrm flipV="1">
            <a:off x="4461542" y="3049288"/>
            <a:ext cx="121927" cy="793800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6" name="Shape 186"/>
          <p:cNvCxnSpPr>
            <a:stCxn id="43" idx="7"/>
          </p:cNvCxnSpPr>
          <p:nvPr/>
        </p:nvCxnSpPr>
        <p:spPr>
          <a:xfrm flipV="1">
            <a:off x="4503586" y="3201688"/>
            <a:ext cx="232282" cy="60697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7" name="Shape 186"/>
          <p:cNvCxnSpPr>
            <a:stCxn id="43" idx="4"/>
          </p:cNvCxnSpPr>
          <p:nvPr/>
        </p:nvCxnSpPr>
        <p:spPr>
          <a:xfrm flipH="1" flipV="1">
            <a:off x="4331447" y="3105487"/>
            <a:ext cx="124304" cy="818662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8" name="Shape 1122"/>
          <p:cNvCxnSpPr/>
          <p:nvPr/>
        </p:nvCxnSpPr>
        <p:spPr>
          <a:xfrm flipH="1">
            <a:off x="4746572" y="1881519"/>
            <a:ext cx="99912" cy="1223968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2FB1C8-7FB6-19EE-A325-68588F8CD1A1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50955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hape 1122"/>
          <p:cNvCxnSpPr/>
          <p:nvPr/>
        </p:nvCxnSpPr>
        <p:spPr>
          <a:xfrm flipH="1">
            <a:off x="4475869" y="2188828"/>
            <a:ext cx="346706" cy="679533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" name="Shape 1123"/>
          <p:cNvSpPr txBox="1"/>
          <p:nvPr/>
        </p:nvSpPr>
        <p:spPr>
          <a:xfrm>
            <a:off x="2628006" y="4869661"/>
            <a:ext cx="18986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original W</a:t>
            </a:r>
          </a:p>
        </p:txBody>
      </p:sp>
      <p:cxnSp>
        <p:nvCxnSpPr>
          <p:cNvPr id="4" name="Shape 1124"/>
          <p:cNvCxnSpPr/>
          <p:nvPr/>
        </p:nvCxnSpPr>
        <p:spPr>
          <a:xfrm flipV="1">
            <a:off x="3517625" y="3857085"/>
            <a:ext cx="237616" cy="1012576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Shape 1125"/>
          <p:cNvSpPr txBox="1"/>
          <p:nvPr/>
        </p:nvSpPr>
        <p:spPr>
          <a:xfrm>
            <a:off x="3806148" y="1369589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T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rue gradients in blue</a:t>
            </a:r>
            <a:br>
              <a:rPr lang="en" sz="2400" dirty="0">
                <a:solidFill>
                  <a:srgbClr val="000000"/>
                </a:solidFill>
                <a:latin typeface="Arial"/>
              </a:rPr>
            </a:br>
            <a:r>
              <a:rPr lang="en" sz="2400" dirty="0">
                <a:solidFill>
                  <a:srgbClr val="000000"/>
                </a:solidFill>
                <a:latin typeface="Arial"/>
              </a:rPr>
              <a:t>minibatch gradients in red</a:t>
            </a:r>
          </a:p>
        </p:txBody>
      </p:sp>
      <p:cxnSp>
        <p:nvCxnSpPr>
          <p:cNvPr id="6" name="Shape 1126"/>
          <p:cNvCxnSpPr/>
          <p:nvPr/>
        </p:nvCxnSpPr>
        <p:spPr>
          <a:xfrm>
            <a:off x="2098076" y="4459867"/>
            <a:ext cx="78841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" name="Shape 1127"/>
          <p:cNvSpPr txBox="1"/>
          <p:nvPr/>
        </p:nvSpPr>
        <p:spPr>
          <a:xfrm>
            <a:off x="9572584" y="461555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8" name="Shape 1128"/>
          <p:cNvCxnSpPr/>
          <p:nvPr/>
        </p:nvCxnSpPr>
        <p:spPr>
          <a:xfrm flipV="1">
            <a:off x="2089525" y="1276853"/>
            <a:ext cx="0" cy="318301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1129"/>
          <p:cNvSpPr txBox="1"/>
          <p:nvPr/>
        </p:nvSpPr>
        <p:spPr>
          <a:xfrm>
            <a:off x="2205726" y="1104919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W_2</a:t>
            </a:r>
          </a:p>
        </p:txBody>
      </p:sp>
      <p:sp>
        <p:nvSpPr>
          <p:cNvPr id="10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</a:rPr>
              <a:t>Minibatch</a:t>
            </a:r>
            <a:r>
              <a:rPr lang="en" sz="3200" dirty="0">
                <a:solidFill>
                  <a:srgbClr val="FFFFFF"/>
                </a:solidFill>
                <a:latin typeface="Arial"/>
              </a:rPr>
              <a:t> Gradient Descent</a:t>
            </a:r>
          </a:p>
        </p:txBody>
      </p:sp>
      <p:sp>
        <p:nvSpPr>
          <p:cNvPr id="11" name="Shape 159"/>
          <p:cNvSpPr/>
          <p:nvPr/>
        </p:nvSpPr>
        <p:spPr>
          <a:xfrm rot="5400000">
            <a:off x="6089004" y="2175838"/>
            <a:ext cx="425099" cy="211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61"/>
          <p:cNvSpPr/>
          <p:nvPr/>
        </p:nvSpPr>
        <p:spPr>
          <a:xfrm rot="5400000">
            <a:off x="5478425" y="-853915"/>
            <a:ext cx="1645800" cy="8191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62"/>
          <p:cNvSpPr/>
          <p:nvPr/>
        </p:nvSpPr>
        <p:spPr>
          <a:xfrm rot="5400000">
            <a:off x="5602992" y="-233926"/>
            <a:ext cx="1397100" cy="69515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63"/>
          <p:cNvSpPr/>
          <p:nvPr/>
        </p:nvSpPr>
        <p:spPr>
          <a:xfrm rot="5400000">
            <a:off x="5754155" y="517666"/>
            <a:ext cx="1094400" cy="5447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64"/>
          <p:cNvSpPr/>
          <p:nvPr/>
        </p:nvSpPr>
        <p:spPr>
          <a:xfrm rot="5400000">
            <a:off x="5881689" y="1152951"/>
            <a:ext cx="839399" cy="4177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65"/>
          <p:cNvSpPr/>
          <p:nvPr/>
        </p:nvSpPr>
        <p:spPr>
          <a:xfrm rot="5400000">
            <a:off x="5995486" y="1719197"/>
            <a:ext cx="611699" cy="3044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67"/>
          <p:cNvSpPr/>
          <p:nvPr/>
        </p:nvSpPr>
        <p:spPr>
          <a:xfrm>
            <a:off x="3738498" y="3673366"/>
            <a:ext cx="135299" cy="135299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68"/>
          <p:cNvSpPr/>
          <p:nvPr/>
        </p:nvSpPr>
        <p:spPr>
          <a:xfrm>
            <a:off x="6211376" y="3105487"/>
            <a:ext cx="240600" cy="240600"/>
          </a:xfrm>
          <a:prstGeom prst="smileyFace">
            <a:avLst>
              <a:gd name="adj" fmla="val 4653"/>
            </a:avLst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Shape 186"/>
          <p:cNvCxnSpPr/>
          <p:nvPr/>
        </p:nvCxnSpPr>
        <p:spPr>
          <a:xfrm flipV="1">
            <a:off x="3800304" y="3139590"/>
            <a:ext cx="170470" cy="601424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" name="Shape 186"/>
          <p:cNvCxnSpPr>
            <a:stCxn id="17" idx="7"/>
          </p:cNvCxnSpPr>
          <p:nvPr/>
        </p:nvCxnSpPr>
        <p:spPr>
          <a:xfrm flipV="1">
            <a:off x="3853983" y="3331481"/>
            <a:ext cx="257469" cy="36169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" name="Shape 186"/>
          <p:cNvCxnSpPr/>
          <p:nvPr/>
        </p:nvCxnSpPr>
        <p:spPr>
          <a:xfrm flipV="1">
            <a:off x="4122320" y="3105487"/>
            <a:ext cx="461148" cy="240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" name="Shape 186"/>
          <p:cNvCxnSpPr/>
          <p:nvPr/>
        </p:nvCxnSpPr>
        <p:spPr>
          <a:xfrm>
            <a:off x="4583468" y="3105487"/>
            <a:ext cx="131508" cy="240600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" name="Shape 186"/>
          <p:cNvCxnSpPr/>
          <p:nvPr/>
        </p:nvCxnSpPr>
        <p:spPr>
          <a:xfrm flipV="1">
            <a:off x="4122321" y="2935846"/>
            <a:ext cx="327933" cy="395636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4" name="Shape 186"/>
          <p:cNvCxnSpPr/>
          <p:nvPr/>
        </p:nvCxnSpPr>
        <p:spPr>
          <a:xfrm>
            <a:off x="4583468" y="3105487"/>
            <a:ext cx="131508" cy="44205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" name="Shape 186"/>
          <p:cNvCxnSpPr/>
          <p:nvPr/>
        </p:nvCxnSpPr>
        <p:spPr>
          <a:xfrm flipV="1">
            <a:off x="4714976" y="3185327"/>
            <a:ext cx="163966" cy="358578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" name="Shape 186"/>
          <p:cNvCxnSpPr/>
          <p:nvPr/>
        </p:nvCxnSpPr>
        <p:spPr>
          <a:xfrm flipV="1">
            <a:off x="4714977" y="3326516"/>
            <a:ext cx="265657" cy="185814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7" name="Shape 186"/>
          <p:cNvCxnSpPr/>
          <p:nvPr/>
        </p:nvCxnSpPr>
        <p:spPr>
          <a:xfrm flipV="1">
            <a:off x="4980633" y="3105487"/>
            <a:ext cx="103066" cy="225996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8" name="Shape 186"/>
          <p:cNvCxnSpPr/>
          <p:nvPr/>
        </p:nvCxnSpPr>
        <p:spPr>
          <a:xfrm flipV="1">
            <a:off x="4980633" y="3021089"/>
            <a:ext cx="0" cy="32499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9" name="Shape 1125"/>
          <p:cNvSpPr txBox="1"/>
          <p:nvPr/>
        </p:nvSpPr>
        <p:spPr>
          <a:xfrm>
            <a:off x="1867559" y="5590556"/>
            <a:ext cx="8529366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Gradients are noisy but still make good progress on average</a:t>
            </a:r>
            <a:endParaRPr lang="en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72474F-527F-06EB-529C-735716D17BD4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96358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hape 1124"/>
          <p:cNvCxnSpPr/>
          <p:nvPr/>
        </p:nvCxnSpPr>
        <p:spPr>
          <a:xfrm flipV="1">
            <a:off x="4778835" y="3547545"/>
            <a:ext cx="237616" cy="1012576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Shape 1125"/>
          <p:cNvSpPr txBox="1"/>
          <p:nvPr/>
        </p:nvSpPr>
        <p:spPr>
          <a:xfrm>
            <a:off x="3806148" y="1369589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Standard gradient</a:t>
            </a:r>
            <a:endParaRPr lang="en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1127"/>
          <p:cNvSpPr txBox="1"/>
          <p:nvPr/>
        </p:nvSpPr>
        <p:spPr>
          <a:xfrm>
            <a:off x="9572584" y="461555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8" name="Shape 1128"/>
          <p:cNvCxnSpPr/>
          <p:nvPr/>
        </p:nvCxnSpPr>
        <p:spPr>
          <a:xfrm flipV="1">
            <a:off x="2089525" y="1276853"/>
            <a:ext cx="0" cy="318301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1129"/>
          <p:cNvSpPr txBox="1"/>
          <p:nvPr/>
        </p:nvSpPr>
        <p:spPr>
          <a:xfrm>
            <a:off x="2205726" y="1104919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W_2</a:t>
            </a:r>
          </a:p>
        </p:txBody>
      </p:sp>
      <p:sp>
        <p:nvSpPr>
          <p:cNvPr id="10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You might be wondering…</a:t>
            </a:r>
          </a:p>
        </p:txBody>
      </p:sp>
      <p:sp>
        <p:nvSpPr>
          <p:cNvPr id="11" name="Shape 159"/>
          <p:cNvSpPr/>
          <p:nvPr/>
        </p:nvSpPr>
        <p:spPr>
          <a:xfrm rot="5400000">
            <a:off x="6089004" y="2175838"/>
            <a:ext cx="425099" cy="211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61"/>
          <p:cNvSpPr/>
          <p:nvPr/>
        </p:nvSpPr>
        <p:spPr>
          <a:xfrm rot="5400000">
            <a:off x="5478425" y="-853915"/>
            <a:ext cx="1645800" cy="8191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62"/>
          <p:cNvSpPr/>
          <p:nvPr/>
        </p:nvSpPr>
        <p:spPr>
          <a:xfrm rot="5400000">
            <a:off x="5602992" y="-233926"/>
            <a:ext cx="1397100" cy="69515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63"/>
          <p:cNvSpPr/>
          <p:nvPr/>
        </p:nvSpPr>
        <p:spPr>
          <a:xfrm rot="5400000">
            <a:off x="5754155" y="517666"/>
            <a:ext cx="1094400" cy="5447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64"/>
          <p:cNvSpPr/>
          <p:nvPr/>
        </p:nvSpPr>
        <p:spPr>
          <a:xfrm rot="5400000">
            <a:off x="5881689" y="1152951"/>
            <a:ext cx="839399" cy="4177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65"/>
          <p:cNvSpPr/>
          <p:nvPr/>
        </p:nvSpPr>
        <p:spPr>
          <a:xfrm rot="5400000">
            <a:off x="5995486" y="1719197"/>
            <a:ext cx="611699" cy="3044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67"/>
          <p:cNvSpPr/>
          <p:nvPr/>
        </p:nvSpPr>
        <p:spPr>
          <a:xfrm>
            <a:off x="3738498" y="3673366"/>
            <a:ext cx="135299" cy="135299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68"/>
          <p:cNvSpPr/>
          <p:nvPr/>
        </p:nvSpPr>
        <p:spPr>
          <a:xfrm>
            <a:off x="6211376" y="3105487"/>
            <a:ext cx="240600" cy="240600"/>
          </a:xfrm>
          <a:prstGeom prst="smileyFace">
            <a:avLst>
              <a:gd name="adj" fmla="val 4653"/>
            </a:avLst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Shape 186"/>
          <p:cNvCxnSpPr/>
          <p:nvPr/>
        </p:nvCxnSpPr>
        <p:spPr>
          <a:xfrm flipV="1">
            <a:off x="3800305" y="1894389"/>
            <a:ext cx="412333" cy="1846626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" name="Shape 186"/>
          <p:cNvCxnSpPr/>
          <p:nvPr/>
        </p:nvCxnSpPr>
        <p:spPr>
          <a:xfrm flipV="1">
            <a:off x="3873797" y="3346088"/>
            <a:ext cx="1924253" cy="370601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" name="Shape 1125"/>
          <p:cNvSpPr txBox="1"/>
          <p:nvPr/>
        </p:nvSpPr>
        <p:spPr>
          <a:xfrm>
            <a:off x="3142025" y="4617782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Can we compute this?</a:t>
            </a:r>
          </a:p>
        </p:txBody>
      </p:sp>
      <p:cxnSp>
        <p:nvCxnSpPr>
          <p:cNvPr id="34" name="Shape 1126"/>
          <p:cNvCxnSpPr/>
          <p:nvPr/>
        </p:nvCxnSpPr>
        <p:spPr>
          <a:xfrm>
            <a:off x="2098076" y="4459867"/>
            <a:ext cx="78841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63F2A3-5F87-E413-7648-EBAB3A5DBA6C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37922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hape 1124"/>
          <p:cNvCxnSpPr/>
          <p:nvPr/>
        </p:nvCxnSpPr>
        <p:spPr>
          <a:xfrm flipV="1">
            <a:off x="4778835" y="3547545"/>
            <a:ext cx="237616" cy="1012576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Shape 1125"/>
          <p:cNvSpPr txBox="1"/>
          <p:nvPr/>
        </p:nvSpPr>
        <p:spPr>
          <a:xfrm>
            <a:off x="3806148" y="1369589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Standard gradient</a:t>
            </a:r>
            <a:endParaRPr lang="en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1127"/>
          <p:cNvSpPr txBox="1"/>
          <p:nvPr/>
        </p:nvSpPr>
        <p:spPr>
          <a:xfrm>
            <a:off x="9572584" y="4615550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W_1</a:t>
            </a:r>
          </a:p>
        </p:txBody>
      </p:sp>
      <p:cxnSp>
        <p:nvCxnSpPr>
          <p:cNvPr id="8" name="Shape 1128"/>
          <p:cNvCxnSpPr/>
          <p:nvPr/>
        </p:nvCxnSpPr>
        <p:spPr>
          <a:xfrm flipV="1">
            <a:off x="2089525" y="1276853"/>
            <a:ext cx="0" cy="318301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1129"/>
          <p:cNvSpPr txBox="1"/>
          <p:nvPr/>
        </p:nvSpPr>
        <p:spPr>
          <a:xfrm>
            <a:off x="2205726" y="1104919"/>
            <a:ext cx="936299" cy="40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W_2</a:t>
            </a:r>
          </a:p>
        </p:txBody>
      </p:sp>
      <p:sp>
        <p:nvSpPr>
          <p:cNvPr id="10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Newton step</a:t>
            </a:r>
          </a:p>
        </p:txBody>
      </p:sp>
      <p:sp>
        <p:nvSpPr>
          <p:cNvPr id="11" name="Shape 159"/>
          <p:cNvSpPr/>
          <p:nvPr/>
        </p:nvSpPr>
        <p:spPr>
          <a:xfrm rot="5400000">
            <a:off x="6089004" y="2175838"/>
            <a:ext cx="425099" cy="211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61"/>
          <p:cNvSpPr/>
          <p:nvPr/>
        </p:nvSpPr>
        <p:spPr>
          <a:xfrm rot="5400000">
            <a:off x="5478425" y="-853915"/>
            <a:ext cx="1645800" cy="8191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62"/>
          <p:cNvSpPr/>
          <p:nvPr/>
        </p:nvSpPr>
        <p:spPr>
          <a:xfrm rot="5400000">
            <a:off x="5602992" y="-233926"/>
            <a:ext cx="1397100" cy="69515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63"/>
          <p:cNvSpPr/>
          <p:nvPr/>
        </p:nvSpPr>
        <p:spPr>
          <a:xfrm rot="5400000">
            <a:off x="5754155" y="517666"/>
            <a:ext cx="1094400" cy="5447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64"/>
          <p:cNvSpPr/>
          <p:nvPr/>
        </p:nvSpPr>
        <p:spPr>
          <a:xfrm rot="5400000">
            <a:off x="5881689" y="1152951"/>
            <a:ext cx="839399" cy="4177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65"/>
          <p:cNvSpPr/>
          <p:nvPr/>
        </p:nvSpPr>
        <p:spPr>
          <a:xfrm rot="5400000">
            <a:off x="5995486" y="1719197"/>
            <a:ext cx="611699" cy="3044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67"/>
          <p:cNvSpPr/>
          <p:nvPr/>
        </p:nvSpPr>
        <p:spPr>
          <a:xfrm>
            <a:off x="3738498" y="3673366"/>
            <a:ext cx="135299" cy="135299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68"/>
          <p:cNvSpPr/>
          <p:nvPr/>
        </p:nvSpPr>
        <p:spPr>
          <a:xfrm>
            <a:off x="6211376" y="3105487"/>
            <a:ext cx="240600" cy="240600"/>
          </a:xfrm>
          <a:prstGeom prst="smileyFace">
            <a:avLst>
              <a:gd name="adj" fmla="val 4653"/>
            </a:avLst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Shape 186"/>
          <p:cNvCxnSpPr/>
          <p:nvPr/>
        </p:nvCxnSpPr>
        <p:spPr>
          <a:xfrm flipV="1">
            <a:off x="3800305" y="1894389"/>
            <a:ext cx="412333" cy="1846626"/>
          </a:xfrm>
          <a:prstGeom prst="straightConnector1">
            <a:avLst/>
          </a:prstGeom>
          <a:noFill/>
          <a:ln w="19050" cap="flat" cmpd="sng">
            <a:solidFill>
              <a:srgbClr val="0033CC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" name="Shape 186"/>
          <p:cNvCxnSpPr/>
          <p:nvPr/>
        </p:nvCxnSpPr>
        <p:spPr>
          <a:xfrm flipV="1">
            <a:off x="3873797" y="3346088"/>
            <a:ext cx="1924253" cy="370601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" name="Shape 1125"/>
          <p:cNvSpPr txBox="1"/>
          <p:nvPr/>
        </p:nvSpPr>
        <p:spPr>
          <a:xfrm>
            <a:off x="3142025" y="4617782"/>
            <a:ext cx="4969199" cy="52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00"/>
                </a:solidFill>
                <a:latin typeface="Arial"/>
              </a:rPr>
              <a:t>Newton gradient step</a:t>
            </a:r>
          </a:p>
        </p:txBody>
      </p:sp>
      <p:cxnSp>
        <p:nvCxnSpPr>
          <p:cNvPr id="34" name="Shape 1126"/>
          <p:cNvCxnSpPr/>
          <p:nvPr/>
        </p:nvCxnSpPr>
        <p:spPr>
          <a:xfrm>
            <a:off x="2098076" y="4459867"/>
            <a:ext cx="78841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5C35F06-48D8-4EE3-C8B9-190C6732017E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534643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73"/>
          <p:cNvSpPr txBox="1"/>
          <p:nvPr/>
        </p:nvSpPr>
        <p:spPr>
          <a:xfrm>
            <a:off x="1589710" y="139464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Newton’s method for gradients: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1108"/>
              <p:cNvSpPr txBox="1"/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The Newton update is: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 is the Hessian matrix of second derivatives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.</a:t>
                </a: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Converges very fast, but rarely used in DL. Why?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sz="24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Shape 1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blipFill>
                <a:blip r:embed="rId3"/>
                <a:stretch>
                  <a:fillRect l="-11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7BFDE2C-F4BA-4D9D-EEEA-7CC932B0399D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0729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73"/>
          <p:cNvSpPr txBox="1"/>
          <p:nvPr/>
        </p:nvSpPr>
        <p:spPr>
          <a:xfrm>
            <a:off x="1589710" y="139464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Newton’s method for gradients: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1108"/>
              <p:cNvSpPr txBox="1"/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The Newton update is: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Converges very fast, but rarely used in DL. Why?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Too expensive: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 has dimension M, the Hessian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/>
                    </m:s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has dimension M</a:t>
                </a:r>
                <a:r>
                  <a:rPr lang="en-US" sz="2400" baseline="30000" dirty="0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 and takes O(M</a:t>
                </a:r>
                <a:r>
                  <a:rPr lang="en-US" sz="2400" baseline="30000" dirty="0">
                    <a:solidFill>
                      <a:srgbClr val="000000"/>
                    </a:solidFill>
                    <a:latin typeface="Arial"/>
                  </a:rPr>
                  <a:t>3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) time to invert.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sz="24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Shape 1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blipFill>
                <a:blip r:embed="rId3"/>
                <a:stretch>
                  <a:fillRect l="-12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809622-90AC-C090-DB4F-3992B7A86C18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6257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73"/>
          <p:cNvSpPr txBox="1"/>
          <p:nvPr/>
        </p:nvSpPr>
        <p:spPr>
          <a:xfrm>
            <a:off x="1589710" y="139464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Newton’s method for gradients: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1108"/>
              <p:cNvSpPr txBox="1"/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The Newton update is: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𝛻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Converges very fast, but rarely used in DL. Why?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Too expensive: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 has dimension M, the Hessian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/>
                    </m:s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has dimension M</a:t>
                </a:r>
                <a:r>
                  <a:rPr lang="en-US" sz="2400" baseline="30000" dirty="0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 and takes O(M</a:t>
                </a:r>
                <a:r>
                  <a:rPr lang="en-US" sz="2400" baseline="30000" dirty="0">
                    <a:solidFill>
                      <a:srgbClr val="000000"/>
                    </a:solidFill>
                    <a:latin typeface="Arial"/>
                  </a:rPr>
                  <a:t>3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) time to invert.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Too unstable: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it involves a high-dimensional matrix inverse, which has poor numerical stability. The Hessian may even be singular. </a:t>
                </a:r>
              </a:p>
              <a:p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endParaRPr sz="24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Shape 1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727" y="965772"/>
                <a:ext cx="8189699" cy="5316027"/>
              </a:xfrm>
              <a:prstGeom prst="rect">
                <a:avLst/>
              </a:prstGeom>
              <a:blipFill>
                <a:blip r:embed="rId3"/>
                <a:stretch>
                  <a:fillRect l="-12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536CE9-0860-F2DC-817B-375AF6AF3438}"/>
              </a:ext>
            </a:extLst>
          </p:cNvPr>
          <p:cNvSpPr txBox="1"/>
          <p:nvPr/>
        </p:nvSpPr>
        <p:spPr>
          <a:xfrm>
            <a:off x="3595875" y="6384263"/>
            <a:ext cx="480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PK" dirty="0"/>
              <a:t>lide based on </a:t>
            </a:r>
            <a:r>
              <a:rPr lang="en-US" dirty="0"/>
              <a:t>CS294-129 by John Canny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300566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/>
        </p:nvSpPr>
        <p:spPr>
          <a:xfrm>
            <a:off x="1619177" y="97602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Momentum update</a:t>
            </a:r>
          </a:p>
        </p:txBody>
      </p:sp>
      <p:pic>
        <p:nvPicPr>
          <p:cNvPr id="209" name="Shape 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839" y="3567700"/>
            <a:ext cx="641032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Shape 2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839" y="1411500"/>
            <a:ext cx="4143375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Shape 211"/>
          <p:cNvCxnSpPr/>
          <p:nvPr/>
        </p:nvCxnSpPr>
        <p:spPr>
          <a:xfrm>
            <a:off x="4543325" y="2384600"/>
            <a:ext cx="0" cy="841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2" name="Shape 212"/>
          <p:cNvSpPr/>
          <p:nvPr/>
        </p:nvSpPr>
        <p:spPr>
          <a:xfrm>
            <a:off x="2951175" y="3882300"/>
            <a:ext cx="3643200" cy="315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13"/>
          <p:cNvSpPr txBox="1"/>
          <p:nvPr/>
        </p:nvSpPr>
        <p:spPr>
          <a:xfrm>
            <a:off x="1619175" y="4925200"/>
            <a:ext cx="8998500" cy="841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- Physical interpretation as ball rolling down the loss function + friction (mu coefficient).</a:t>
            </a:r>
          </a:p>
          <a:p>
            <a:r>
              <a:rPr lang="en">
                <a:solidFill>
                  <a:srgbClr val="000000"/>
                </a:solidFill>
                <a:latin typeface="Arial"/>
              </a:rPr>
              <a:t>- mu = usually ~0.5, 0.9, or 0.99 (Sometimes annealed over time, e.g. from 0.5 -&gt; 0.99)</a:t>
            </a:r>
          </a:p>
        </p:txBody>
      </p:sp>
    </p:spTree>
    <p:extLst>
      <p:ext uri="{BB962C8B-B14F-4D97-AF65-F5344CB8AC3E}">
        <p14:creationId xmlns:p14="http://schemas.microsoft.com/office/powerpoint/2010/main" val="2562870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/>
        </p:nvSpPr>
        <p:spPr>
          <a:xfrm>
            <a:off x="1619177" y="97602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Momentum update</a:t>
            </a:r>
          </a:p>
        </p:txBody>
      </p:sp>
      <p:pic>
        <p:nvPicPr>
          <p:cNvPr id="220" name="Shape 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051" y="3580542"/>
            <a:ext cx="641032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Shape 2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4390" y="1394892"/>
            <a:ext cx="4143375" cy="685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Shape 222"/>
          <p:cNvCxnSpPr/>
          <p:nvPr/>
        </p:nvCxnSpPr>
        <p:spPr>
          <a:xfrm>
            <a:off x="4543325" y="2384600"/>
            <a:ext cx="0" cy="841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23" name="Shape 223"/>
          <p:cNvSpPr/>
          <p:nvPr/>
        </p:nvSpPr>
        <p:spPr>
          <a:xfrm>
            <a:off x="2951175" y="3882300"/>
            <a:ext cx="3643200" cy="315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24"/>
          <p:cNvSpPr txBox="1"/>
          <p:nvPr/>
        </p:nvSpPr>
        <p:spPr>
          <a:xfrm>
            <a:off x="1588550" y="4788333"/>
            <a:ext cx="8971800" cy="85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indent="-355600">
              <a:buClr>
                <a:srgbClr val="FF0000"/>
              </a:buClr>
              <a:buSzPct val="100000"/>
              <a:buFontTx/>
              <a:buChar char="-"/>
            </a:pPr>
            <a:r>
              <a:rPr lang="en" sz="2000">
                <a:solidFill>
                  <a:srgbClr val="FF0000"/>
                </a:solidFill>
                <a:latin typeface="Arial"/>
              </a:rPr>
              <a:t>Allows a velocity to “build up” along shallow directions</a:t>
            </a:r>
          </a:p>
          <a:p>
            <a:pPr marL="457200" indent="-355600">
              <a:buClr>
                <a:srgbClr val="FF0000"/>
              </a:buClr>
              <a:buSzPct val="100000"/>
              <a:buFontTx/>
              <a:buChar char="-"/>
            </a:pPr>
            <a:r>
              <a:rPr lang="en" sz="2000">
                <a:solidFill>
                  <a:srgbClr val="FF0000"/>
                </a:solidFill>
                <a:latin typeface="Arial"/>
              </a:rPr>
              <a:t>Velocity becomes damped in steep direction due to quickly changing sign</a:t>
            </a:r>
          </a:p>
        </p:txBody>
      </p:sp>
      <p:sp>
        <p:nvSpPr>
          <p:cNvPr id="225" name="Shape 225"/>
          <p:cNvSpPr/>
          <p:nvPr/>
        </p:nvSpPr>
        <p:spPr>
          <a:xfrm>
            <a:off x="7214618" y="1028256"/>
            <a:ext cx="1408799" cy="2291251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26"/>
          <p:cNvSpPr/>
          <p:nvPr/>
        </p:nvSpPr>
        <p:spPr>
          <a:xfrm>
            <a:off x="8837897" y="1498737"/>
            <a:ext cx="1641899" cy="15848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8437870" y="2374902"/>
            <a:ext cx="164999" cy="21999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10232297" y="2484901"/>
            <a:ext cx="164999" cy="219999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7927" y="955497"/>
            <a:ext cx="3621869" cy="1335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668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Shape 235" descr="optim3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671" y="1023168"/>
            <a:ext cx="3636750" cy="483956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Shape 236"/>
          <p:cNvSpPr txBox="1"/>
          <p:nvPr/>
        </p:nvSpPr>
        <p:spPr>
          <a:xfrm>
            <a:off x="1799225" y="1023167"/>
            <a:ext cx="2402100" cy="315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000">
                <a:solidFill>
                  <a:srgbClr val="FF0000"/>
                </a:solidFill>
                <a:latin typeface="Arial"/>
              </a:rPr>
              <a:t>SGD </a:t>
            </a:r>
          </a:p>
          <a:p>
            <a:r>
              <a:rPr lang="en" sz="3000">
                <a:solidFill>
                  <a:srgbClr val="000000"/>
                </a:solidFill>
                <a:latin typeface="Arial"/>
              </a:rPr>
              <a:t>vs</a:t>
            </a:r>
          </a:p>
          <a:p>
            <a:r>
              <a:rPr lang="en" sz="3000">
                <a:solidFill>
                  <a:srgbClr val="38761D"/>
                </a:solidFill>
                <a:latin typeface="Arial"/>
              </a:rPr>
              <a:t>Momentum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8027300" y="2610535"/>
            <a:ext cx="2705100" cy="269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38761D"/>
                </a:solidFill>
                <a:latin typeface="Arial"/>
              </a:rPr>
              <a:t>notice momentum</a:t>
            </a:r>
          </a:p>
          <a:p>
            <a:r>
              <a:rPr lang="en" dirty="0">
                <a:solidFill>
                  <a:srgbClr val="38761D"/>
                </a:solidFill>
                <a:latin typeface="Arial"/>
              </a:rPr>
              <a:t>overshooting the target, but overall getting to the minimum much faster than vanilla SGD.</a:t>
            </a:r>
          </a:p>
        </p:txBody>
      </p:sp>
      <p:cxnSp>
        <p:nvCxnSpPr>
          <p:cNvPr id="238" name="Shape 238"/>
          <p:cNvCxnSpPr/>
          <p:nvPr/>
        </p:nvCxnSpPr>
        <p:spPr>
          <a:xfrm flipH="1">
            <a:off x="6479701" y="3193835"/>
            <a:ext cx="1520400" cy="124719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78962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AdaGrad update</a:t>
            </a:r>
          </a:p>
        </p:txBody>
      </p:sp>
      <p:pic>
        <p:nvPicPr>
          <p:cNvPr id="359" name="Shape 3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1682767"/>
            <a:ext cx="60102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Shape 360"/>
          <p:cNvSpPr/>
          <p:nvPr/>
        </p:nvSpPr>
        <p:spPr>
          <a:xfrm>
            <a:off x="4874602" y="2211735"/>
            <a:ext cx="3018899" cy="497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61"/>
          <p:cNvSpPr txBox="1"/>
          <p:nvPr/>
        </p:nvSpPr>
        <p:spPr>
          <a:xfrm>
            <a:off x="4442550" y="3112516"/>
            <a:ext cx="6010200" cy="63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0000"/>
                </a:solidFill>
                <a:latin typeface="Arial"/>
              </a:rPr>
              <a:t>Added element-wise scaling of the gradient based on the historical sum of squares in each dimension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8250002" y="66035"/>
            <a:ext cx="24179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[Duchi et al., 2011]</a:t>
            </a:r>
          </a:p>
        </p:txBody>
      </p:sp>
    </p:spTree>
    <p:extLst>
      <p:ext uri="{BB962C8B-B14F-4D97-AF65-F5344CB8AC3E}">
        <p14:creationId xmlns:p14="http://schemas.microsoft.com/office/powerpoint/2010/main" val="2406284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/>
        </p:nvSpPr>
        <p:spPr>
          <a:xfrm rot="5400000">
            <a:off x="5604429" y="3069504"/>
            <a:ext cx="566799" cy="211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69"/>
          <p:cNvSpPr/>
          <p:nvPr/>
        </p:nvSpPr>
        <p:spPr>
          <a:xfrm rot="5400000">
            <a:off x="4790399" y="42433"/>
            <a:ext cx="2194400" cy="8191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70"/>
          <p:cNvSpPr/>
          <p:nvPr/>
        </p:nvSpPr>
        <p:spPr>
          <a:xfrm rot="5400000">
            <a:off x="4956416" y="662487"/>
            <a:ext cx="1862800" cy="69515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71"/>
          <p:cNvSpPr/>
          <p:nvPr/>
        </p:nvSpPr>
        <p:spPr>
          <a:xfrm rot="5400000">
            <a:off x="5158029" y="1414007"/>
            <a:ext cx="1459200" cy="5447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72"/>
          <p:cNvSpPr/>
          <p:nvPr/>
        </p:nvSpPr>
        <p:spPr>
          <a:xfrm rot="5400000">
            <a:off x="5328064" y="2049305"/>
            <a:ext cx="1119199" cy="4177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373"/>
          <p:cNvSpPr/>
          <p:nvPr/>
        </p:nvSpPr>
        <p:spPr>
          <a:xfrm rot="5400000">
            <a:off x="5479811" y="2615550"/>
            <a:ext cx="815599" cy="3044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74"/>
          <p:cNvSpPr/>
          <p:nvPr/>
        </p:nvSpPr>
        <p:spPr>
          <a:xfrm>
            <a:off x="3974377" y="4867588"/>
            <a:ext cx="135299" cy="180399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375"/>
          <p:cNvSpPr/>
          <p:nvPr/>
        </p:nvSpPr>
        <p:spPr>
          <a:xfrm>
            <a:off x="5797650" y="3956436"/>
            <a:ext cx="240600" cy="320800"/>
          </a:xfrm>
          <a:prstGeom prst="smileyFace">
            <a:avLst>
              <a:gd name="adj" fmla="val 4653"/>
            </a:avLst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76"/>
          <p:cNvSpPr txBox="1"/>
          <p:nvPr/>
        </p:nvSpPr>
        <p:spPr>
          <a:xfrm>
            <a:off x="2284202" y="5295168"/>
            <a:ext cx="7523099" cy="734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FF"/>
                </a:solidFill>
                <a:latin typeface="Arial"/>
              </a:rPr>
              <a:t>Q: What happens with AdaGrad?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AdaGrad update</a:t>
            </a:r>
          </a:p>
        </p:txBody>
      </p:sp>
      <p:pic>
        <p:nvPicPr>
          <p:cNvPr id="378" name="Shape 3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1682767"/>
            <a:ext cx="60102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Shape 379"/>
          <p:cNvSpPr/>
          <p:nvPr/>
        </p:nvSpPr>
        <p:spPr>
          <a:xfrm>
            <a:off x="4874602" y="2211735"/>
            <a:ext cx="3018899" cy="497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1582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/>
        </p:nvSpPr>
        <p:spPr>
          <a:xfrm rot="5400000">
            <a:off x="5604429" y="3069504"/>
            <a:ext cx="566799" cy="2115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86"/>
          <p:cNvSpPr/>
          <p:nvPr/>
        </p:nvSpPr>
        <p:spPr>
          <a:xfrm rot="5400000">
            <a:off x="4790399" y="42433"/>
            <a:ext cx="2194400" cy="8191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87"/>
          <p:cNvSpPr/>
          <p:nvPr/>
        </p:nvSpPr>
        <p:spPr>
          <a:xfrm rot="5400000">
            <a:off x="4956416" y="662487"/>
            <a:ext cx="1862800" cy="69515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88"/>
          <p:cNvSpPr/>
          <p:nvPr/>
        </p:nvSpPr>
        <p:spPr>
          <a:xfrm rot="5400000">
            <a:off x="5158029" y="1414007"/>
            <a:ext cx="1459200" cy="5447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89"/>
          <p:cNvSpPr/>
          <p:nvPr/>
        </p:nvSpPr>
        <p:spPr>
          <a:xfrm rot="5400000">
            <a:off x="5328064" y="2049305"/>
            <a:ext cx="1119199" cy="4177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90"/>
          <p:cNvSpPr/>
          <p:nvPr/>
        </p:nvSpPr>
        <p:spPr>
          <a:xfrm rot="5400000">
            <a:off x="5479811" y="2615550"/>
            <a:ext cx="815599" cy="3044999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91"/>
          <p:cNvSpPr/>
          <p:nvPr/>
        </p:nvSpPr>
        <p:spPr>
          <a:xfrm>
            <a:off x="3974377" y="4867588"/>
            <a:ext cx="135299" cy="180399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92"/>
          <p:cNvSpPr/>
          <p:nvPr/>
        </p:nvSpPr>
        <p:spPr>
          <a:xfrm>
            <a:off x="5797650" y="3956436"/>
            <a:ext cx="240600" cy="320800"/>
          </a:xfrm>
          <a:prstGeom prst="smileyFace">
            <a:avLst>
              <a:gd name="adj" fmla="val 4653"/>
            </a:avLst>
          </a:prstGeom>
          <a:solidFill>
            <a:srgbClr val="F9CB9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93"/>
          <p:cNvSpPr txBox="1"/>
          <p:nvPr/>
        </p:nvSpPr>
        <p:spPr>
          <a:xfrm>
            <a:off x="2284202" y="5295168"/>
            <a:ext cx="7523099" cy="734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FF"/>
                </a:solidFill>
                <a:latin typeface="Arial"/>
              </a:rPr>
              <a:t>Q2: What happens to the step size over long time?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AdaGrad update</a:t>
            </a:r>
          </a:p>
        </p:txBody>
      </p:sp>
      <p:pic>
        <p:nvPicPr>
          <p:cNvPr id="395" name="Shape 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1682767"/>
            <a:ext cx="60102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Shape 396"/>
          <p:cNvSpPr/>
          <p:nvPr/>
        </p:nvSpPr>
        <p:spPr>
          <a:xfrm>
            <a:off x="4874602" y="2211735"/>
            <a:ext cx="3018899" cy="497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92675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200" dirty="0">
                <a:solidFill>
                  <a:srgbClr val="FFFFFF"/>
                </a:solidFill>
                <a:latin typeface="Arial"/>
              </a:rPr>
              <a:t>RMSProp update</a:t>
            </a:r>
          </a:p>
        </p:txBody>
      </p:sp>
      <p:pic>
        <p:nvPicPr>
          <p:cNvPr id="403" name="Shape 4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1682767"/>
            <a:ext cx="60102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Shape 404"/>
          <p:cNvSpPr txBox="1"/>
          <p:nvPr/>
        </p:nvSpPr>
        <p:spPr>
          <a:xfrm>
            <a:off x="7332388" y="141635"/>
            <a:ext cx="32021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Arial"/>
              </a:rPr>
              <a:t>[Tieleman and Hinton, 2012]</a:t>
            </a:r>
          </a:p>
        </p:txBody>
      </p:sp>
      <p:cxnSp>
        <p:nvCxnSpPr>
          <p:cNvPr id="405" name="Shape 405"/>
          <p:cNvCxnSpPr/>
          <p:nvPr/>
        </p:nvCxnSpPr>
        <p:spPr>
          <a:xfrm>
            <a:off x="4783825" y="2904968"/>
            <a:ext cx="0" cy="85839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406" name="Shape 4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3250" y="4056100"/>
            <a:ext cx="62103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Shape 407"/>
          <p:cNvSpPr/>
          <p:nvPr/>
        </p:nvSpPr>
        <p:spPr>
          <a:xfrm>
            <a:off x="1738575" y="4368435"/>
            <a:ext cx="6511500" cy="3851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408"/>
          <p:cNvSpPr/>
          <p:nvPr/>
        </p:nvSpPr>
        <p:spPr>
          <a:xfrm>
            <a:off x="1791925" y="2002670"/>
            <a:ext cx="6511500" cy="3147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70356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Shape 4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919" y="1279921"/>
            <a:ext cx="5869349" cy="443136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Shape 415"/>
          <p:cNvSpPr txBox="1"/>
          <p:nvPr/>
        </p:nvSpPr>
        <p:spPr>
          <a:xfrm>
            <a:off x="7779551" y="1279921"/>
            <a:ext cx="2789399" cy="142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Introduced in a slide in Geoff Hinton’s Coursera class, lecture 6</a:t>
            </a:r>
          </a:p>
        </p:txBody>
      </p:sp>
    </p:spTree>
    <p:extLst>
      <p:ext uri="{BB962C8B-B14F-4D97-AF65-F5344CB8AC3E}">
        <p14:creationId xmlns:p14="http://schemas.microsoft.com/office/powerpoint/2010/main" val="4488306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Shape 4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724" y="1022969"/>
            <a:ext cx="5869349" cy="428623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Shape 422"/>
          <p:cNvSpPr txBox="1"/>
          <p:nvPr/>
        </p:nvSpPr>
        <p:spPr>
          <a:xfrm>
            <a:off x="7697358" y="1022969"/>
            <a:ext cx="2789399" cy="142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Introduced in a slide in Geoff Hinton’s Coursera class, lecture 6</a:t>
            </a:r>
          </a:p>
        </p:txBody>
      </p:sp>
      <p:pic>
        <p:nvPicPr>
          <p:cNvPr id="423" name="Shape 4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3263" y="5375200"/>
            <a:ext cx="5476875" cy="76400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24" name="Shape 424"/>
          <p:cNvSpPr txBox="1"/>
          <p:nvPr/>
        </p:nvSpPr>
        <p:spPr>
          <a:xfrm>
            <a:off x="1812850" y="5375200"/>
            <a:ext cx="2434500" cy="935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00"/>
                </a:solidFill>
                <a:latin typeface="Arial"/>
              </a:rPr>
              <a:t>Cited by several papers as:</a:t>
            </a:r>
          </a:p>
        </p:txBody>
      </p:sp>
    </p:spTree>
    <p:extLst>
      <p:ext uri="{BB962C8B-B14F-4D97-AF65-F5344CB8AC3E}">
        <p14:creationId xmlns:p14="http://schemas.microsoft.com/office/powerpoint/2010/main" val="35193556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Shape 430" descr="optim3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671" y="1014243"/>
            <a:ext cx="3636750" cy="4839567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Shape 431"/>
          <p:cNvSpPr txBox="1"/>
          <p:nvPr/>
        </p:nvSpPr>
        <p:spPr>
          <a:xfrm>
            <a:off x="8415175" y="2137368"/>
            <a:ext cx="1411200" cy="104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adagrad</a:t>
            </a:r>
          </a:p>
          <a:p>
            <a:r>
              <a:rPr lang="en">
                <a:solidFill>
                  <a:srgbClr val="000000"/>
                </a:solidFill>
                <a:latin typeface="Arial"/>
              </a:rPr>
              <a:t>rmsprop</a:t>
            </a:r>
          </a:p>
        </p:txBody>
      </p:sp>
      <p:cxnSp>
        <p:nvCxnSpPr>
          <p:cNvPr id="432" name="Shape 432"/>
          <p:cNvCxnSpPr/>
          <p:nvPr/>
        </p:nvCxnSpPr>
        <p:spPr>
          <a:xfrm rot="10800000">
            <a:off x="7878574" y="2343668"/>
            <a:ext cx="420900" cy="2531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6097069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000" dirty="0">
                <a:solidFill>
                  <a:srgbClr val="FFFFFF"/>
                </a:solidFill>
                <a:latin typeface="Arial"/>
              </a:rPr>
              <a:t>Adam update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465952" y="66035"/>
            <a:ext cx="32021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[Kingma and Ba, 2014]</a:t>
            </a:r>
          </a:p>
        </p:txBody>
      </p:sp>
      <p:pic>
        <p:nvPicPr>
          <p:cNvPr id="440" name="Shape 4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2093467"/>
            <a:ext cx="62960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Shape 441"/>
          <p:cNvSpPr txBox="1"/>
          <p:nvPr/>
        </p:nvSpPr>
        <p:spPr>
          <a:xfrm>
            <a:off x="1883252" y="898602"/>
            <a:ext cx="4126799" cy="57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(incomplete, but close)</a:t>
            </a:r>
          </a:p>
        </p:txBody>
      </p:sp>
    </p:spTree>
    <p:extLst>
      <p:ext uri="{BB962C8B-B14F-4D97-AF65-F5344CB8AC3E}">
        <p14:creationId xmlns:p14="http://schemas.microsoft.com/office/powerpoint/2010/main" val="39235402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000" dirty="0">
                <a:solidFill>
                  <a:srgbClr val="FFFFFF"/>
                </a:solidFill>
                <a:latin typeface="Arial"/>
              </a:rPr>
              <a:t>Adam update</a:t>
            </a:r>
          </a:p>
        </p:txBody>
      </p:sp>
      <p:sp>
        <p:nvSpPr>
          <p:cNvPr id="448" name="Shape 448"/>
          <p:cNvSpPr txBox="1"/>
          <p:nvPr/>
        </p:nvSpPr>
        <p:spPr>
          <a:xfrm>
            <a:off x="7465952" y="66035"/>
            <a:ext cx="32021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[Kingma and Ba, 2014]</a:t>
            </a:r>
          </a:p>
        </p:txBody>
      </p:sp>
      <p:pic>
        <p:nvPicPr>
          <p:cNvPr id="449" name="Shape 4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2093467"/>
            <a:ext cx="62960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Shape 450"/>
          <p:cNvSpPr txBox="1"/>
          <p:nvPr/>
        </p:nvSpPr>
        <p:spPr>
          <a:xfrm>
            <a:off x="1883252" y="898602"/>
            <a:ext cx="4126799" cy="57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(incomplete, but close)</a:t>
            </a:r>
          </a:p>
        </p:txBody>
      </p:sp>
      <p:sp>
        <p:nvSpPr>
          <p:cNvPr id="451" name="Shape 451"/>
          <p:cNvSpPr/>
          <p:nvPr/>
        </p:nvSpPr>
        <p:spPr>
          <a:xfrm>
            <a:off x="1886705" y="2445653"/>
            <a:ext cx="6569099" cy="2800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452"/>
          <p:cNvSpPr txBox="1"/>
          <p:nvPr/>
        </p:nvSpPr>
        <p:spPr>
          <a:xfrm>
            <a:off x="8544509" y="2043849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38761D"/>
                </a:solidFill>
                <a:latin typeface="Arial"/>
              </a:rPr>
              <a:t>momentum</a:t>
            </a:r>
          </a:p>
        </p:txBody>
      </p:sp>
      <p:sp>
        <p:nvSpPr>
          <p:cNvPr id="453" name="Shape 453"/>
          <p:cNvSpPr/>
          <p:nvPr/>
        </p:nvSpPr>
        <p:spPr>
          <a:xfrm>
            <a:off x="1885377" y="2769668"/>
            <a:ext cx="6569099" cy="6191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454"/>
          <p:cNvSpPr txBox="1"/>
          <p:nvPr/>
        </p:nvSpPr>
        <p:spPr>
          <a:xfrm>
            <a:off x="8530735" y="3208853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0000"/>
                </a:solidFill>
                <a:latin typeface="Arial"/>
              </a:rPr>
              <a:t>RMSProp-like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1883250" y="3695933"/>
            <a:ext cx="8145300" cy="119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00"/>
                </a:solidFill>
                <a:latin typeface="Arial"/>
              </a:rPr>
              <a:t>Looks a bit like RMSProp with momentum</a:t>
            </a:r>
          </a:p>
        </p:txBody>
      </p:sp>
    </p:spTree>
    <p:extLst>
      <p:ext uri="{BB962C8B-B14F-4D97-AF65-F5344CB8AC3E}">
        <p14:creationId xmlns:p14="http://schemas.microsoft.com/office/powerpoint/2010/main" val="3586907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000" dirty="0">
                <a:solidFill>
                  <a:srgbClr val="FFFFFF"/>
                </a:solidFill>
                <a:latin typeface="Arial"/>
              </a:rPr>
              <a:t>Adam update</a:t>
            </a:r>
          </a:p>
        </p:txBody>
      </p:sp>
      <p:sp>
        <p:nvSpPr>
          <p:cNvPr id="462" name="Shape 462"/>
          <p:cNvSpPr txBox="1"/>
          <p:nvPr/>
        </p:nvSpPr>
        <p:spPr>
          <a:xfrm>
            <a:off x="7465952" y="66035"/>
            <a:ext cx="32021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[Kingma and Ba, 2014]</a:t>
            </a:r>
          </a:p>
        </p:txBody>
      </p:sp>
      <p:pic>
        <p:nvPicPr>
          <p:cNvPr id="463" name="Shape 4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39" y="2093467"/>
            <a:ext cx="62960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Shape 464"/>
          <p:cNvSpPr txBox="1"/>
          <p:nvPr/>
        </p:nvSpPr>
        <p:spPr>
          <a:xfrm>
            <a:off x="1883252" y="898602"/>
            <a:ext cx="4126799" cy="57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  <a:latin typeface="Arial"/>
              </a:rPr>
              <a:t>(incomplete, but close)</a:t>
            </a:r>
          </a:p>
        </p:txBody>
      </p:sp>
      <p:sp>
        <p:nvSpPr>
          <p:cNvPr id="465" name="Shape 465"/>
          <p:cNvSpPr/>
          <p:nvPr/>
        </p:nvSpPr>
        <p:spPr>
          <a:xfrm>
            <a:off x="1886705" y="2445653"/>
            <a:ext cx="6569099" cy="2800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466"/>
          <p:cNvSpPr txBox="1"/>
          <p:nvPr/>
        </p:nvSpPr>
        <p:spPr>
          <a:xfrm>
            <a:off x="8544509" y="2043849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38761D"/>
                </a:solidFill>
                <a:latin typeface="Arial"/>
              </a:rPr>
              <a:t>momentum</a:t>
            </a:r>
          </a:p>
        </p:txBody>
      </p:sp>
      <p:sp>
        <p:nvSpPr>
          <p:cNvPr id="467" name="Shape 467"/>
          <p:cNvSpPr/>
          <p:nvPr/>
        </p:nvSpPr>
        <p:spPr>
          <a:xfrm>
            <a:off x="1885377" y="2769668"/>
            <a:ext cx="6569099" cy="6191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468"/>
          <p:cNvSpPr txBox="1"/>
          <p:nvPr/>
        </p:nvSpPr>
        <p:spPr>
          <a:xfrm>
            <a:off x="8530735" y="3208853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0000"/>
                </a:solidFill>
                <a:latin typeface="Arial"/>
              </a:rPr>
              <a:t>RMSProp-like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1883250" y="3695933"/>
            <a:ext cx="8145300" cy="119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00"/>
                </a:solidFill>
                <a:latin typeface="Arial"/>
              </a:rPr>
              <a:t>Looks a bit like RMSProp with momentum</a:t>
            </a:r>
          </a:p>
        </p:txBody>
      </p:sp>
      <p:pic>
        <p:nvPicPr>
          <p:cNvPr id="470" name="Shape 4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6100" y="4577300"/>
            <a:ext cx="6210300" cy="106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3025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Shape 4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187" y="1598564"/>
            <a:ext cx="6306225" cy="285116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Shape 477"/>
          <p:cNvSpPr txBox="1"/>
          <p:nvPr/>
        </p:nvSpPr>
        <p:spPr>
          <a:xfrm>
            <a:off x="1883252" y="141635"/>
            <a:ext cx="5622599" cy="49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3000" dirty="0">
                <a:solidFill>
                  <a:srgbClr val="FFFFFF"/>
                </a:solidFill>
                <a:latin typeface="Arial"/>
              </a:rPr>
              <a:t>Adam update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7465952" y="66035"/>
            <a:ext cx="3202199" cy="52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Arial"/>
              </a:rPr>
              <a:t>[Kingma and Ba, 2014]</a:t>
            </a:r>
          </a:p>
        </p:txBody>
      </p:sp>
      <p:sp>
        <p:nvSpPr>
          <p:cNvPr id="479" name="Shape 479"/>
          <p:cNvSpPr/>
          <p:nvPr/>
        </p:nvSpPr>
        <p:spPr>
          <a:xfrm>
            <a:off x="1936627" y="3114035"/>
            <a:ext cx="6569099" cy="351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1936627" y="4071333"/>
            <a:ext cx="6569099" cy="28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481"/>
          <p:cNvSpPr txBox="1"/>
          <p:nvPr/>
        </p:nvSpPr>
        <p:spPr>
          <a:xfrm>
            <a:off x="8581975" y="4202667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FF0000"/>
                </a:solidFill>
                <a:latin typeface="Arial"/>
              </a:rPr>
              <a:t>RMSProp-like</a:t>
            </a:r>
          </a:p>
        </p:txBody>
      </p:sp>
      <p:sp>
        <p:nvSpPr>
          <p:cNvPr id="482" name="Shape 482"/>
          <p:cNvSpPr/>
          <p:nvPr/>
        </p:nvSpPr>
        <p:spPr>
          <a:xfrm>
            <a:off x="1936627" y="3510235"/>
            <a:ext cx="6569099" cy="5279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483"/>
          <p:cNvSpPr txBox="1"/>
          <p:nvPr/>
        </p:nvSpPr>
        <p:spPr>
          <a:xfrm>
            <a:off x="8576000" y="3174833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bias correction</a:t>
            </a:r>
          </a:p>
          <a:p>
            <a:r>
              <a:rPr lang="en" sz="1200">
                <a:solidFill>
                  <a:srgbClr val="0000FF"/>
                </a:solidFill>
                <a:latin typeface="Arial"/>
              </a:rPr>
              <a:t>(only relevant in first few iterations when t is small)</a:t>
            </a:r>
          </a:p>
        </p:txBody>
      </p:sp>
      <p:sp>
        <p:nvSpPr>
          <p:cNvPr id="484" name="Shape 484"/>
          <p:cNvSpPr/>
          <p:nvPr/>
        </p:nvSpPr>
        <p:spPr>
          <a:xfrm>
            <a:off x="1936627" y="2805921"/>
            <a:ext cx="6569099" cy="2800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485"/>
          <p:cNvSpPr txBox="1"/>
          <p:nvPr/>
        </p:nvSpPr>
        <p:spPr>
          <a:xfrm>
            <a:off x="8594431" y="2404119"/>
            <a:ext cx="2046600" cy="79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38761D"/>
                </a:solidFill>
                <a:latin typeface="Arial"/>
              </a:rPr>
              <a:t>momentum</a:t>
            </a:r>
          </a:p>
        </p:txBody>
      </p:sp>
      <p:sp>
        <p:nvSpPr>
          <p:cNvPr id="486" name="Shape 486"/>
          <p:cNvSpPr txBox="1"/>
          <p:nvPr/>
        </p:nvSpPr>
        <p:spPr>
          <a:xfrm>
            <a:off x="1813702" y="4875200"/>
            <a:ext cx="6569099" cy="88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Arial"/>
              </a:rPr>
              <a:t>The bias correction compensates for the fact that m,v are initialized at zero and need some time to “warm up”.</a:t>
            </a:r>
          </a:p>
        </p:txBody>
      </p:sp>
    </p:spTree>
    <p:extLst>
      <p:ext uri="{BB962C8B-B14F-4D97-AF65-F5344CB8AC3E}">
        <p14:creationId xmlns:p14="http://schemas.microsoft.com/office/powerpoint/2010/main" val="35365133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/>
          <p:nvPr/>
        </p:nvSpPr>
        <p:spPr>
          <a:xfrm>
            <a:off x="1870627" y="71920"/>
            <a:ext cx="8607599" cy="8631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FFFFFF"/>
                </a:solidFill>
                <a:latin typeface="Arial"/>
              </a:rPr>
              <a:t>SGD, SGD+Momentum, Adagrad, RMSProp, Adam all have </a:t>
            </a:r>
            <a:r>
              <a:rPr lang="en" sz="2400" b="1" dirty="0">
                <a:solidFill>
                  <a:srgbClr val="FFFFFF"/>
                </a:solidFill>
                <a:latin typeface="Arial"/>
              </a:rPr>
              <a:t>learning rate </a:t>
            </a:r>
            <a:r>
              <a:rPr lang="en" sz="2400" dirty="0">
                <a:solidFill>
                  <a:srgbClr val="FFFFFF"/>
                </a:solidFill>
                <a:latin typeface="Arial"/>
              </a:rPr>
              <a:t>as a hyperparameter.</a:t>
            </a:r>
          </a:p>
        </p:txBody>
      </p:sp>
      <p:pic>
        <p:nvPicPr>
          <p:cNvPr id="493" name="Shape 4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061" y="1620101"/>
            <a:ext cx="3415625" cy="41076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94" name="Shape 494"/>
          <p:cNvSpPr txBox="1"/>
          <p:nvPr/>
        </p:nvSpPr>
        <p:spPr>
          <a:xfrm>
            <a:off x="6007902" y="3453235"/>
            <a:ext cx="4316399" cy="1879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>
                <a:solidFill>
                  <a:srgbClr val="0000FF"/>
                </a:solidFill>
                <a:latin typeface="Arial"/>
              </a:rPr>
              <a:t>Q: Which one of these learning rates is best to use?</a:t>
            </a:r>
          </a:p>
        </p:txBody>
      </p:sp>
    </p:spTree>
    <p:extLst>
      <p:ext uri="{BB962C8B-B14F-4D97-AF65-F5344CB8AC3E}">
        <p14:creationId xmlns:p14="http://schemas.microsoft.com/office/powerpoint/2010/main" val="21834673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 txBox="1"/>
          <p:nvPr/>
        </p:nvSpPr>
        <p:spPr>
          <a:xfrm>
            <a:off x="1870627" y="82194"/>
            <a:ext cx="8607599" cy="85290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FFFFFF"/>
                </a:solidFill>
                <a:latin typeface="Arial"/>
              </a:rPr>
              <a:t>SGD, SGD+Momentum, Adagrad, RMSProp, Adam all have </a:t>
            </a:r>
            <a:r>
              <a:rPr lang="en" sz="2400" b="1" dirty="0">
                <a:solidFill>
                  <a:srgbClr val="FFFFFF"/>
                </a:solidFill>
                <a:latin typeface="Arial"/>
              </a:rPr>
              <a:t>learning rate </a:t>
            </a:r>
            <a:r>
              <a:rPr lang="en" sz="2400" dirty="0">
                <a:solidFill>
                  <a:srgbClr val="FFFFFF"/>
                </a:solidFill>
                <a:latin typeface="Arial"/>
              </a:rPr>
              <a:t>as a hyperparameter.</a:t>
            </a:r>
          </a:p>
        </p:txBody>
      </p:sp>
      <p:sp>
        <p:nvSpPr>
          <p:cNvPr id="502" name="Shape 502"/>
          <p:cNvSpPr txBox="1"/>
          <p:nvPr/>
        </p:nvSpPr>
        <p:spPr>
          <a:xfrm>
            <a:off x="5774152" y="1458931"/>
            <a:ext cx="4703999" cy="42190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" b="1" dirty="0">
                <a:solidFill>
                  <a:srgbClr val="000000"/>
                </a:solidFill>
                <a:latin typeface="Arial"/>
              </a:rPr>
              <a:t>Learning rate decay over time </a:t>
            </a:r>
          </a:p>
          <a:p>
            <a:r>
              <a:rPr lang="en" b="1" dirty="0">
                <a:solidFill>
                  <a:srgbClr val="000000"/>
                </a:solidFill>
                <a:latin typeface="Arial"/>
              </a:rPr>
              <a:t>	(LR Schedulers)!</a:t>
            </a:r>
          </a:p>
        </p:txBody>
      </p:sp>
      <p:sp>
        <p:nvSpPr>
          <p:cNvPr id="503" name="Shape 503"/>
          <p:cNvSpPr txBox="1"/>
          <p:nvPr/>
        </p:nvSpPr>
        <p:spPr>
          <a:xfrm>
            <a:off x="5774150" y="2321800"/>
            <a:ext cx="4703999" cy="333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b="1" dirty="0">
                <a:solidFill>
                  <a:srgbClr val="000000"/>
                </a:solidFill>
                <a:latin typeface="Arial"/>
              </a:rPr>
              <a:t>Step decay: </a:t>
            </a:r>
          </a:p>
          <a:p>
            <a:r>
              <a:rPr lang="en" dirty="0">
                <a:solidFill>
                  <a:srgbClr val="000000"/>
                </a:solidFill>
                <a:latin typeface="Arial"/>
              </a:rPr>
              <a:t>e.g. decay learning rate by half every few epochs.</a:t>
            </a:r>
          </a:p>
          <a:p>
            <a:endParaRPr dirty="0">
              <a:solidFill>
                <a:srgbClr val="000000"/>
              </a:solidFill>
              <a:latin typeface="Arial"/>
            </a:endParaRPr>
          </a:p>
          <a:p>
            <a:endParaRPr dirty="0">
              <a:solidFill>
                <a:srgbClr val="000000"/>
              </a:solidFill>
              <a:latin typeface="Arial"/>
            </a:endParaRPr>
          </a:p>
          <a:p>
            <a:r>
              <a:rPr lang="en" b="1" dirty="0">
                <a:solidFill>
                  <a:srgbClr val="000000"/>
                </a:solidFill>
                <a:latin typeface="Arial"/>
              </a:rPr>
              <a:t>Exponential decay:</a:t>
            </a:r>
          </a:p>
          <a:p>
            <a:endParaRPr b="1" dirty="0">
              <a:solidFill>
                <a:srgbClr val="000000"/>
              </a:solidFill>
              <a:latin typeface="Arial"/>
            </a:endParaRPr>
          </a:p>
          <a:p>
            <a:endParaRPr b="1" dirty="0">
              <a:solidFill>
                <a:srgbClr val="000000"/>
              </a:solidFill>
              <a:latin typeface="Arial"/>
            </a:endParaRPr>
          </a:p>
          <a:p>
            <a:endParaRPr b="1" dirty="0">
              <a:solidFill>
                <a:srgbClr val="000000"/>
              </a:solidFill>
              <a:latin typeface="Arial"/>
            </a:endParaRPr>
          </a:p>
          <a:p>
            <a:r>
              <a:rPr lang="en" b="1" dirty="0">
                <a:solidFill>
                  <a:srgbClr val="000000"/>
                </a:solidFill>
                <a:latin typeface="Arial"/>
              </a:rPr>
              <a:t>Cosine decay (Best):</a:t>
            </a:r>
          </a:p>
        </p:txBody>
      </p:sp>
      <p:pic>
        <p:nvPicPr>
          <p:cNvPr id="504" name="Shape 5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239" y="4098466"/>
            <a:ext cx="1362075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 descr="A (Very Short) Visual Introduction to Learning Rate Schedulers (With Code)  | by Théo Martin | Medium">
            <a:extLst>
              <a:ext uri="{FF2B5EF4-FFF2-40B4-BE49-F238E27FC236}">
                <a16:creationId xmlns:a16="http://schemas.microsoft.com/office/drawing/2014/main" id="{5B094BD3-41BD-6C63-F9F6-EC0AA8177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" y="1329344"/>
            <a:ext cx="5496204" cy="447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5796D336-A649-15A5-4A68-346C3B467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65039"/>
            <a:ext cx="5354198" cy="79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696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/>
          <p:nvPr/>
        </p:nvSpPr>
        <p:spPr>
          <a:xfrm>
            <a:off x="1604377" y="174167"/>
            <a:ext cx="8933099" cy="951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sz="3200" dirty="0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702130" y="1009404"/>
            <a:ext cx="8684570" cy="48185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indent="-342900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2400" b="1" dirty="0">
                <a:solidFill>
                  <a:srgbClr val="000000"/>
                </a:solidFill>
                <a:latin typeface="Arial"/>
              </a:rPr>
              <a:t>Simple Gradient Methods 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like SGD can make adequate progress to an optimum when used on minibatches of data.</a:t>
            </a:r>
          </a:p>
          <a:p>
            <a:pPr marL="457200" indent="-342900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2400" b="1" dirty="0">
                <a:solidFill>
                  <a:srgbClr val="000000"/>
                </a:solidFill>
                <a:latin typeface="Arial"/>
              </a:rPr>
              <a:t>Second-order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 methods make much better progress toward the goal, but are more expensive and unstable. </a:t>
            </a:r>
          </a:p>
          <a:p>
            <a:pPr marL="457200" indent="-342900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2400" b="1" dirty="0">
                <a:solidFill>
                  <a:srgbClr val="000000"/>
                </a:solidFill>
                <a:latin typeface="Arial"/>
              </a:rPr>
              <a:t>Momentum: 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is another method to produce better effective gradients. </a:t>
            </a:r>
          </a:p>
          <a:p>
            <a:pPr marL="457200" indent="-342900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2400" b="1" dirty="0">
                <a:solidFill>
                  <a:srgbClr val="000000"/>
                </a:solidFill>
                <a:latin typeface="Arial"/>
              </a:rPr>
              <a:t>ADAGRAD, RMSprop 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diagonally scale the gradient. </a:t>
            </a:r>
          </a:p>
          <a:p>
            <a:pPr marL="457200" indent="-342900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" sz="2400" b="1" dirty="0">
                <a:solidFill>
                  <a:srgbClr val="000000"/>
                </a:solidFill>
                <a:latin typeface="Arial"/>
              </a:rPr>
              <a:t>ADAM</a:t>
            </a:r>
            <a:r>
              <a:rPr lang="en" sz="2400" dirty="0">
                <a:solidFill>
                  <a:srgbClr val="000000"/>
                </a:solidFill>
                <a:latin typeface="Arial"/>
              </a:rPr>
              <a:t> scales and applies momentum.</a:t>
            </a:r>
          </a:p>
        </p:txBody>
      </p:sp>
    </p:spTree>
    <p:extLst>
      <p:ext uri="{BB962C8B-B14F-4D97-AF65-F5344CB8AC3E}">
        <p14:creationId xmlns:p14="http://schemas.microsoft.com/office/powerpoint/2010/main" val="13481474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Shape 1171" descr="opt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950" y="1191196"/>
            <a:ext cx="5217380" cy="45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Shape 1172"/>
          <p:cNvSpPr txBox="1"/>
          <p:nvPr/>
        </p:nvSpPr>
        <p:spPr>
          <a:xfrm>
            <a:off x="4712044" y="5737316"/>
            <a:ext cx="5796839" cy="331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dirty="0"/>
              <a:t>(image credits to Alec Radford)</a:t>
            </a:r>
          </a:p>
        </p:txBody>
      </p:sp>
      <p:sp>
        <p:nvSpPr>
          <p:cNvPr id="1173" name="Shape 1173"/>
          <p:cNvSpPr txBox="1"/>
          <p:nvPr/>
        </p:nvSpPr>
        <p:spPr>
          <a:xfrm>
            <a:off x="1687152" y="210065"/>
            <a:ext cx="8821731" cy="8279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800" dirty="0">
                <a:solidFill>
                  <a:schemeClr val="bg1"/>
                </a:solidFill>
              </a:rPr>
              <a:t>The effects of different update formulas</a:t>
            </a:r>
          </a:p>
        </p:txBody>
      </p:sp>
    </p:spTree>
    <p:extLst>
      <p:ext uri="{BB962C8B-B14F-4D97-AF65-F5344CB8AC3E}">
        <p14:creationId xmlns:p14="http://schemas.microsoft.com/office/powerpoint/2010/main" val="10459264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27D5-4ED2-C636-E455-AB779DAE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7D87-1D27-E86B-B62C-4CADE82F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52479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2671</Words>
  <Application>Microsoft Office PowerPoint</Application>
  <PresentationFormat>Widescreen</PresentationFormat>
  <Paragraphs>433</Paragraphs>
  <Slides>71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Arial</vt:lpstr>
      <vt:lpstr>Bahnschrift</vt:lpstr>
      <vt:lpstr>Calibri</vt:lpstr>
      <vt:lpstr>Calibri Light</vt:lpstr>
      <vt:lpstr>Cambria Math</vt:lpstr>
      <vt:lpstr>Symbol</vt:lpstr>
      <vt:lpstr>Times New Roman</vt:lpstr>
      <vt:lpstr>Trebuchet MS</vt:lpstr>
      <vt:lpstr>Wingdings</vt:lpstr>
      <vt:lpstr>Office Theme</vt:lpstr>
      <vt:lpstr>Clarity</vt:lpstr>
      <vt:lpstr>PowerPoint Presentation</vt:lpstr>
      <vt:lpstr>Lecture 2: Outline</vt:lpstr>
      <vt:lpstr>Recap</vt:lpstr>
      <vt:lpstr>PowerPoint Presentation</vt:lpstr>
      <vt:lpstr>PowerPoint Presentation</vt:lpstr>
      <vt:lpstr>PowerPoint Presentation</vt:lpstr>
      <vt:lpstr>Classification Types</vt:lpstr>
      <vt:lpstr>Linear Model in Disguise</vt:lpstr>
      <vt:lpstr>Linear Model in Disguise</vt:lpstr>
      <vt:lpstr>Linear Classifier</vt:lpstr>
      <vt:lpstr>Logistic Regression</vt:lpstr>
      <vt:lpstr>Special Function</vt:lpstr>
      <vt:lpstr>Sigmoid Function (for Binary Classification)</vt:lpstr>
      <vt:lpstr>Softmax Function (for Multiclass Classification)</vt:lpstr>
      <vt:lpstr>Classification Loss</vt:lpstr>
      <vt:lpstr>Classification Loss</vt:lpstr>
      <vt:lpstr>Binary Cross Entropy (LogLoss)</vt:lpstr>
      <vt:lpstr>Binary Cross Entropy (LogLoss)</vt:lpstr>
      <vt:lpstr>Binary Cross Entropy (LogLoss)</vt:lpstr>
      <vt:lpstr>How to find optimal Parameters?</vt:lpstr>
      <vt:lpstr>How to find optimal Parameters?</vt:lpstr>
      <vt:lpstr>Logistic Regression</vt:lpstr>
      <vt:lpstr>Logistic Regression</vt:lpstr>
      <vt:lpstr>Classification Metrics</vt:lpstr>
      <vt:lpstr>Classification Metrics</vt:lpstr>
      <vt:lpstr>Classification Metrics</vt:lpstr>
      <vt:lpstr>Classification Metrics</vt:lpstr>
      <vt:lpstr>Classification Metrics</vt:lpstr>
      <vt:lpstr>Classification Metrics</vt:lpstr>
      <vt:lpstr>Classification Metrics</vt:lpstr>
      <vt:lpstr>Classification Metrics</vt:lpstr>
      <vt:lpstr>Other ML Models</vt:lpstr>
      <vt:lpstr>Other ML Models</vt:lpstr>
      <vt:lpstr>Other ML Models</vt:lpstr>
      <vt:lpstr>Other ML Models</vt:lpstr>
      <vt:lpstr>A Slight Detour: A Look at Optimization Tools</vt:lpstr>
      <vt:lpstr>Introduction</vt:lpstr>
      <vt:lpstr>Direction of maximum increase and decrease for a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Naeemullah Khan</dc:creator>
  <cp:lastModifiedBy>محمد  حامد  الطيب الطاهر</cp:lastModifiedBy>
  <cp:revision>78</cp:revision>
  <dcterms:created xsi:type="dcterms:W3CDTF">2022-07-04T08:09:45Z</dcterms:created>
  <dcterms:modified xsi:type="dcterms:W3CDTF">2025-01-02T20:15:57Z</dcterms:modified>
</cp:coreProperties>
</file>